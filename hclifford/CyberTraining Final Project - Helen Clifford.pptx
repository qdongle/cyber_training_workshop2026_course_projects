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g" ContentType="vide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57" r:id="rId4"/>
    <p:sldId id="272" r:id="rId5"/>
    <p:sldId id="271" r:id="rId6"/>
    <p:sldId id="276" r:id="rId7"/>
    <p:sldId id="259" r:id="rId8"/>
    <p:sldId id="262" r:id="rId9"/>
    <p:sldId id="273" r:id="rId10"/>
    <p:sldId id="277" r:id="rId11"/>
    <p:sldId id="278" r:id="rId12"/>
    <p:sldId id="283" r:id="rId13"/>
    <p:sldId id="265" r:id="rId14"/>
    <p:sldId id="280" r:id="rId15"/>
    <p:sldId id="281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51B79-C5EF-C04A-A31E-C5C431A8D070}" v="454" dt="2026-07-16T00:46:21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/>
    <p:restoredTop sz="92321"/>
  </p:normalViewPr>
  <p:slideViewPr>
    <p:cSldViewPr snapToGrid="0">
      <p:cViewPr varScale="1">
        <p:scale>
          <a:sx n="92" d="100"/>
          <a:sy n="92" d="100"/>
        </p:scale>
        <p:origin x="1304" y="184"/>
      </p:cViewPr>
      <p:guideLst/>
    </p:cSldViewPr>
  </p:slideViewPr>
  <p:notesTextViewPr>
    <p:cViewPr>
      <p:scale>
        <a:sx n="204" d="100"/>
        <a:sy n="204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chicagoedu-my.sharepoint.com/personal/helenclifford_uchicago_edu/Documents/CyberTraining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315050865630349E-2"/>
          <c:y val="2.3868009348909133E-2"/>
          <c:w val="0.90191260598596246"/>
          <c:h val="0.7978765782975353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'Relaxed PES'!$P$1</c:f>
              <c:strCache>
                <c:ptCount val="1"/>
                <c:pt idx="0">
                  <c:v>S0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'Relaxed PES'!$O$2:$O$10</c:f>
              <c:numCache>
                <c:formatCode>General</c:formatCode>
                <c:ptCount val="9"/>
                <c:pt idx="0">
                  <c:v>1.45</c:v>
                </c:pt>
                <c:pt idx="1">
                  <c:v>1.6</c:v>
                </c:pt>
                <c:pt idx="2">
                  <c:v>1.8</c:v>
                </c:pt>
                <c:pt idx="3">
                  <c:v>2</c:v>
                </c:pt>
                <c:pt idx="4">
                  <c:v>2.2000000000000002</c:v>
                </c:pt>
                <c:pt idx="5">
                  <c:v>2.4</c:v>
                </c:pt>
                <c:pt idx="6">
                  <c:v>2.6</c:v>
                </c:pt>
                <c:pt idx="7">
                  <c:v>2.8</c:v>
                </c:pt>
                <c:pt idx="8">
                  <c:v>3</c:v>
                </c:pt>
              </c:numCache>
            </c:numRef>
          </c:xVal>
          <c:yVal>
            <c:numRef>
              <c:f>'Relaxed PES'!$P$2:$P$10</c:f>
              <c:numCache>
                <c:formatCode>General</c:formatCode>
                <c:ptCount val="9"/>
                <c:pt idx="0">
                  <c:v>0.11944416818732861</c:v>
                </c:pt>
                <c:pt idx="1">
                  <c:v>0</c:v>
                </c:pt>
                <c:pt idx="2">
                  <c:v>0.19640508234988374</c:v>
                </c:pt>
                <c:pt idx="3">
                  <c:v>0.41891678186038916</c:v>
                </c:pt>
                <c:pt idx="4">
                  <c:v>0.57608792346400151</c:v>
                </c:pt>
                <c:pt idx="5">
                  <c:v>0.67214389334912994</c:v>
                </c:pt>
                <c:pt idx="6">
                  <c:v>0.74841880811982264</c:v>
                </c:pt>
                <c:pt idx="7">
                  <c:v>0.64876712383738777</c:v>
                </c:pt>
                <c:pt idx="8">
                  <c:v>0.62347249485173961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149-434B-BAE1-210D5A544681}"/>
            </c:ext>
          </c:extLst>
        </c:ser>
        <c:ser>
          <c:idx val="1"/>
          <c:order val="1"/>
          <c:tx>
            <c:strRef>
              <c:f>'Relaxed PES'!$Q$1</c:f>
              <c:strCache>
                <c:ptCount val="1"/>
                <c:pt idx="0">
                  <c:v>S1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'Relaxed PES'!$O$2:$O$10</c:f>
              <c:numCache>
                <c:formatCode>General</c:formatCode>
                <c:ptCount val="9"/>
                <c:pt idx="0">
                  <c:v>1.45</c:v>
                </c:pt>
                <c:pt idx="1">
                  <c:v>1.6</c:v>
                </c:pt>
                <c:pt idx="2">
                  <c:v>1.8</c:v>
                </c:pt>
                <c:pt idx="3">
                  <c:v>2</c:v>
                </c:pt>
                <c:pt idx="4">
                  <c:v>2.2000000000000002</c:v>
                </c:pt>
                <c:pt idx="5">
                  <c:v>2.4</c:v>
                </c:pt>
                <c:pt idx="6">
                  <c:v>2.6</c:v>
                </c:pt>
                <c:pt idx="7">
                  <c:v>2.8</c:v>
                </c:pt>
                <c:pt idx="8">
                  <c:v>3</c:v>
                </c:pt>
              </c:numCache>
            </c:numRef>
          </c:xVal>
          <c:yVal>
            <c:numRef>
              <c:f>'Relaxed PES'!$Q$2:$Q$10</c:f>
              <c:numCache>
                <c:formatCode>General</c:formatCode>
                <c:ptCount val="9"/>
                <c:pt idx="0">
                  <c:v>5.6101215478865925</c:v>
                </c:pt>
                <c:pt idx="1">
                  <c:v>3.6299441602877778</c:v>
                </c:pt>
                <c:pt idx="2">
                  <c:v>2.2035516884861863</c:v>
                </c:pt>
                <c:pt idx="3">
                  <c:v>1.4768666255477001</c:v>
                </c:pt>
                <c:pt idx="4">
                  <c:v>1.0976373984740349</c:v>
                </c:pt>
                <c:pt idx="5">
                  <c:v>0.89437966926379886</c:v>
                </c:pt>
                <c:pt idx="6">
                  <c:v>0.76772910601539479</c:v>
                </c:pt>
                <c:pt idx="7">
                  <c:v>0.67146279200642311</c:v>
                </c:pt>
                <c:pt idx="8">
                  <c:v>0.64494990864659485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149-434B-BAE1-210D5A544681}"/>
            </c:ext>
          </c:extLst>
        </c:ser>
        <c:ser>
          <c:idx val="2"/>
          <c:order val="2"/>
          <c:tx>
            <c:strRef>
              <c:f>'Relaxed PES'!$R$1</c:f>
              <c:strCache>
                <c:ptCount val="1"/>
                <c:pt idx="0">
                  <c:v>S2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'Relaxed PES'!$O$2:$O$10</c:f>
              <c:numCache>
                <c:formatCode>General</c:formatCode>
                <c:ptCount val="9"/>
                <c:pt idx="0">
                  <c:v>1.45</c:v>
                </c:pt>
                <c:pt idx="1">
                  <c:v>1.6</c:v>
                </c:pt>
                <c:pt idx="2">
                  <c:v>1.8</c:v>
                </c:pt>
                <c:pt idx="3">
                  <c:v>2</c:v>
                </c:pt>
                <c:pt idx="4">
                  <c:v>2.2000000000000002</c:v>
                </c:pt>
                <c:pt idx="5">
                  <c:v>2.4</c:v>
                </c:pt>
                <c:pt idx="6">
                  <c:v>2.6</c:v>
                </c:pt>
                <c:pt idx="7">
                  <c:v>2.8</c:v>
                </c:pt>
                <c:pt idx="8">
                  <c:v>3</c:v>
                </c:pt>
              </c:numCache>
            </c:numRef>
          </c:xVal>
          <c:yVal>
            <c:numRef>
              <c:f>'Relaxed PES'!$R$2:$R$10</c:f>
              <c:numCache>
                <c:formatCode>General</c:formatCode>
                <c:ptCount val="9"/>
                <c:pt idx="0">
                  <c:v>8.8599189126907731</c:v>
                </c:pt>
                <c:pt idx="1">
                  <c:v>5.5578255909094878</c:v>
                </c:pt>
                <c:pt idx="2">
                  <c:v>3.0981626546490588</c:v>
                </c:pt>
                <c:pt idx="3">
                  <c:v>1.8759590861682227</c:v>
                </c:pt>
                <c:pt idx="4">
                  <c:v>1.283467858671429</c:v>
                </c:pt>
                <c:pt idx="5">
                  <c:v>0.9915259999470436</c:v>
                </c:pt>
                <c:pt idx="6">
                  <c:v>0.87281272996551706</c:v>
                </c:pt>
                <c:pt idx="7">
                  <c:v>0.80930730887303071</c:v>
                </c:pt>
                <c:pt idx="8">
                  <c:v>0.78089479767731973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149-434B-BAE1-210D5A544681}"/>
            </c:ext>
          </c:extLst>
        </c:ser>
        <c:ser>
          <c:idx val="3"/>
          <c:order val="3"/>
          <c:tx>
            <c:strRef>
              <c:f>'Relaxed PES'!$S$1</c:f>
              <c:strCache>
                <c:ptCount val="1"/>
                <c:pt idx="0">
                  <c:v>S3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'Relaxed PES'!$O$2:$O$10</c:f>
              <c:numCache>
                <c:formatCode>General</c:formatCode>
                <c:ptCount val="9"/>
                <c:pt idx="0">
                  <c:v>1.45</c:v>
                </c:pt>
                <c:pt idx="1">
                  <c:v>1.6</c:v>
                </c:pt>
                <c:pt idx="2">
                  <c:v>1.8</c:v>
                </c:pt>
                <c:pt idx="3">
                  <c:v>2</c:v>
                </c:pt>
                <c:pt idx="4">
                  <c:v>2.2000000000000002</c:v>
                </c:pt>
                <c:pt idx="5">
                  <c:v>2.4</c:v>
                </c:pt>
                <c:pt idx="6">
                  <c:v>2.6</c:v>
                </c:pt>
                <c:pt idx="7">
                  <c:v>2.8</c:v>
                </c:pt>
                <c:pt idx="8">
                  <c:v>3</c:v>
                </c:pt>
              </c:numCache>
            </c:numRef>
          </c:xVal>
          <c:yVal>
            <c:numRef>
              <c:f>'Relaxed PES'!$S$2:$S$10</c:f>
              <c:numCache>
                <c:formatCode>General</c:formatCode>
                <c:ptCount val="9"/>
                <c:pt idx="0">
                  <c:v>10.848841772132801</c:v>
                </c:pt>
                <c:pt idx="1">
                  <c:v>7.0304630206683214</c:v>
                </c:pt>
                <c:pt idx="2">
                  <c:v>4.0060636685720965</c:v>
                </c:pt>
                <c:pt idx="3">
                  <c:v>2.4136100907871878</c:v>
                </c:pt>
                <c:pt idx="4">
                  <c:v>1.5834221141249145</c:v>
                </c:pt>
                <c:pt idx="5">
                  <c:v>1.135322194220862</c:v>
                </c:pt>
                <c:pt idx="6">
                  <c:v>0.90803843149296881</c:v>
                </c:pt>
                <c:pt idx="7">
                  <c:v>0.83744389647472417</c:v>
                </c:pt>
                <c:pt idx="8">
                  <c:v>0.80784796149055182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149-434B-BAE1-210D5A5446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072288"/>
        <c:axId val="51074000"/>
      </c:scatterChart>
      <c:valAx>
        <c:axId val="51072288"/>
        <c:scaling>
          <c:orientation val="minMax"/>
          <c:max val="3"/>
          <c:min val="1.4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r>
                  <a:rPr lang="en-US" sz="1600" b="1"/>
                  <a:t>O-O Bond Distance (Å)</a:t>
                </a:r>
              </a:p>
            </c:rich>
          </c:tx>
          <c:layout>
            <c:manualLayout>
              <c:xMode val="edge"/>
              <c:yMode val="edge"/>
              <c:x val="0.40227751766299952"/>
              <c:y val="0.909224945254624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aramond" panose="020204040303010108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cross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51074000"/>
        <c:crosses val="autoZero"/>
        <c:crossBetween val="midCat"/>
      </c:valAx>
      <c:valAx>
        <c:axId val="510740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r>
                  <a:rPr lang="en-US" sz="1600" b="1"/>
                  <a:t>Energy (eV)</a:t>
                </a:r>
              </a:p>
            </c:rich>
          </c:tx>
          <c:layout>
            <c:manualLayout>
              <c:xMode val="edge"/>
              <c:yMode val="edge"/>
              <c:x val="1.156065680915859E-2"/>
              <c:y val="0.3509397567907561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aramond" panose="020204040303010108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cross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510722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1818398011567028"/>
          <c:y val="5.7139262917579078E-2"/>
          <c:w val="0.16131735960060206"/>
          <c:h val="0.164754228206681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aramond" panose="020204040303010108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aramond" panose="02020404030301010803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52980-58C2-FD45-B4E9-2E2FBE5F3247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97E2E-F076-A848-873B-D3306B733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7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Organic hydroperoxides serve as an important intermediate in the formation of secondary organic aerosols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97E2E-F076-A848-873B-D3306B733E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02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97E2E-F076-A848-873B-D3306B733E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7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electronic states lead to the same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cyclopentoxy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OH product asymptote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*←n transitions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97E2E-F076-A848-873B-D3306B733E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19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elocity</a:t>
            </a:r>
            <a:r>
              <a:rPr lang="en-US" dirty="0"/>
              <a:t>-Verlet classical propagator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clas_prop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dirty="0"/>
              <a:t>), full diagonalization for the quantum amplitude equations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qm_prop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fulldiag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dirty="0"/>
              <a:t>), adiabatic representation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qm_ham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"adiabatic"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97E2E-F076-A848-873B-D3306B733E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3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97E2E-F076-A848-873B-D3306B733E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37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97E2E-F076-A848-873B-D3306B733E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5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AAC64-93EF-ED8D-7A1C-74547E690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5E166-579C-2966-9934-57AF3501C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E7798-3C5E-4F57-3597-B5966F9B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881AD-1EDB-275D-8027-319F335A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C95C7-CC08-F516-66B6-93A897EA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6DA4-1687-8ED7-7BB7-61D03E0A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C61C-60F5-8443-9CB4-9D5D9EC6F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1377E-62D7-03BA-8D07-7052E228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0D53-2A70-4D9B-55BA-2C1A565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B979E-4FBA-F1CA-EB7C-5695B571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9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44E7-0AF1-70EB-DCB3-B0557932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91F23-3703-173F-67FD-6D291B3D5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BE167-8B28-0D2F-F10E-39AEBC6B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05B52-35DB-0424-2B8A-1F83A72B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6054A-48AD-C190-FC3E-F94BFC9F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5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0599-ADCA-98EF-7CDC-15352611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0008-1651-57C3-2B1D-582B1DE53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9F1C7-D40E-2934-EE0F-624B96444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320E7-6B52-571A-02EB-78AC250C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B2561-0179-EAB7-907C-09BDDB30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7E753-9665-9DEF-7BE8-4F5E2F64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9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AE46-BB49-6027-C79F-289F9316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E90D2-57B3-34F7-E4C5-3761955B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3B970-D1B0-B0A9-AD0B-2FE2F1160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DB084-9B78-63F6-492A-AAE69644B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3CDA0-4051-0DCC-4A91-7ECED73B5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C7A76-397D-F273-9ECF-FA503B9C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16C1-32AB-301D-9EEC-647E6BF4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D568-F092-8D5B-BC1C-57C4201D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2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280F-CA30-82B1-7E4F-44140BB3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1EDAC-C928-2A5F-2D66-FDA3E4CA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E2CF6-CD0F-B6E4-3CA7-FBA3DA06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3EE01-A293-5C70-C3FA-14FD8F2F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9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969B8-E918-FD6D-21C9-EB002FF0F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ED44C-2C1C-D093-68D7-71991F91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E750-2E22-7C4E-16CA-42BF6EF2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2776-39D6-793D-EA1A-5E242C75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3C9BC-2868-8E32-B2CF-4B79153C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2A9AB-65BB-72F4-0314-B003129AC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911D7-995F-D4EA-8173-CC61BFBB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2F729-6C55-190A-D07E-3145EF05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6089C-36F2-31D0-956C-2C4CFAB9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0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C1DC-AD5A-67B9-4BF6-A2EFFB1AD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63163-8899-216C-4D37-655E692AD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856D9-F877-4D80-246D-BFFB732CC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345DD-E2A2-9B52-2EF5-D211F1B0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61004-2EC0-2E5E-4A1E-D358CFAE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0C34C-D688-C645-F83E-9FF9149F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1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B775-167C-5328-E64B-F5A831C2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E2CAF-E3E4-5A25-D55C-71DFE4A9E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EF262-A1B9-5694-3D8E-DED4F62B7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0D5F0-29BF-6055-9ED6-E89837DF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26530-AFF7-0765-ABEC-A70FB6D3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5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F492A-73BE-054A-D210-C2F5D91B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DFC74-2160-D85E-068B-22DC0C6BB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9201D-6018-9C3A-0312-44ADCDA2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5271-E9D5-7C49-87BF-8AD38908B75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EAD14-EC0F-5CD8-F98B-FAFBD1DC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4CD6-F7F4-500C-DDAB-BCF1B529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AEC7-62B2-FE4D-8202-C17D6A2D0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4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E0588-D3F9-54B9-D41A-BDB86C2E0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D33A6-6D6E-E095-BDE0-6B7F51F10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5111A-8371-659A-A121-3FD86966F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BF905271-E9D5-7C49-87BF-8AD38908B75F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46623-F252-77FD-3BC1-7C14698FF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C9704-6187-E501-1D93-671A639C2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6DECAEC7-62B2-FE4D-8202-C17D6A2D02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5.e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jpg"/><Relationship Id="rId7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g"/><Relationship Id="rId1" Type="http://schemas.microsoft.com/office/2007/relationships/media" Target="../media/media1.mpg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DBE4-87DF-59A7-30C1-4299F7CB0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723" y="1744510"/>
            <a:ext cx="8166808" cy="2769781"/>
          </a:xfrm>
        </p:spPr>
        <p:txBody>
          <a:bodyPr anchor="ctr">
            <a:normAutofit/>
          </a:bodyPr>
          <a:lstStyle/>
          <a:p>
            <a:r>
              <a:rPr lang="en-US" sz="4400" dirty="0"/>
              <a:t>Simulation of Solar Photolysis of Organic Hydroperoxides ROOH (tert-butyl hydroperoxide)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480FA-63F1-3190-680A-1BC2C6D54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127" y="5202238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Helen Clifford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326D8-8B95-88E1-D6F5-72290F4E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71" t="37179" r="29054" b="35277"/>
          <a:stretch>
            <a:fillRect/>
          </a:stretch>
        </p:blipFill>
        <p:spPr>
          <a:xfrm>
            <a:off x="8983318" y="251012"/>
            <a:ext cx="2979618" cy="94898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59DF7B33-0EA0-0D31-8892-36A777108B8D}"/>
              </a:ext>
            </a:extLst>
          </p:cNvPr>
          <p:cNvSpPr txBox="1">
            <a:spLocks/>
          </p:cNvSpPr>
          <p:nvPr/>
        </p:nvSpPr>
        <p:spPr>
          <a:xfrm>
            <a:off x="3467098" y="5746751"/>
            <a:ext cx="525780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CyberTraining Workshop 2026</a:t>
            </a:r>
          </a:p>
        </p:txBody>
      </p:sp>
    </p:spTree>
    <p:extLst>
      <p:ext uri="{BB962C8B-B14F-4D97-AF65-F5344CB8AC3E}">
        <p14:creationId xmlns:p14="http://schemas.microsoft.com/office/powerpoint/2010/main" val="313062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53CB-594B-C720-B906-9AF371C3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461"/>
          </a:xfrm>
        </p:spPr>
        <p:txBody>
          <a:bodyPr/>
          <a:lstStyle/>
          <a:p>
            <a:r>
              <a:rPr lang="en-US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0AF3B-ACB6-128B-BC11-F93EA43A4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49" y="1574349"/>
            <a:ext cx="11347901" cy="4502384"/>
          </a:xfrm>
        </p:spPr>
        <p:txBody>
          <a:bodyPr>
            <a:normAutofit/>
          </a:bodyPr>
          <a:lstStyle/>
          <a:p>
            <a:r>
              <a:rPr lang="en-US" sz="2400" dirty="0"/>
              <a:t>Organic hydroperoxides serve as an important intermediate in the formation of secondary organic aerosols</a:t>
            </a:r>
          </a:p>
          <a:p>
            <a:endParaRPr lang="en-US" sz="2400" dirty="0"/>
          </a:p>
          <a:p>
            <a:r>
              <a:rPr lang="en-US" sz="2400" dirty="0"/>
              <a:t>From UV radiation, the O-O bond can dissociate on a repulsive excited state leading to RO+OH radical products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Experimental evidence shows two possible mechanistic pathways and electronic states for RO-OH dissociation*:</a:t>
            </a:r>
          </a:p>
          <a:p>
            <a:pPr lvl="1"/>
            <a:r>
              <a:rPr lang="en-US" sz="2000" dirty="0"/>
              <a:t>Direct dissociation on S</a:t>
            </a:r>
            <a:r>
              <a:rPr lang="en-US" sz="2000" baseline="-25000" dirty="0"/>
              <a:t>1</a:t>
            </a:r>
            <a:r>
              <a:rPr lang="en-US" sz="2000" dirty="0"/>
              <a:t> suggested to be the dominant pathway but also evidence of internal conversion through S</a:t>
            </a:r>
            <a:r>
              <a:rPr lang="en-US" sz="2000" baseline="-25000" dirty="0"/>
              <a:t>1</a:t>
            </a:r>
            <a:r>
              <a:rPr lang="en-US" sz="2000" dirty="0"/>
              <a:t>/S</a:t>
            </a:r>
            <a:r>
              <a:rPr lang="en-US" sz="2000" baseline="-25000" dirty="0"/>
              <a:t>0</a:t>
            </a:r>
            <a:r>
              <a:rPr lang="en-US" sz="2000" dirty="0"/>
              <a:t> degeneracy followed by ground-state dissociation*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B6CD1-95C3-5ADD-6C94-F00116176700}"/>
              </a:ext>
            </a:extLst>
          </p:cNvPr>
          <p:cNvSpPr txBox="1"/>
          <p:nvPr/>
        </p:nvSpPr>
        <p:spPr>
          <a:xfrm>
            <a:off x="6567447" y="6418496"/>
            <a:ext cx="5624553" cy="37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*Zou, M. et al.,  J. Phys. Chem. A 2025, 129 (13), 3052−3062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8DC77-0E2A-4C8B-C227-2F3DCEB37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255" y="60523"/>
            <a:ext cx="2197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5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4EF5-CADA-C5F4-83E5-C1A58482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33" y="447833"/>
            <a:ext cx="5956618" cy="74126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Outline and Research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E842-EE7E-7088-A9FA-CAAF7DB39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79820" cy="4351338"/>
          </a:xfrm>
        </p:spPr>
        <p:txBody>
          <a:bodyPr>
            <a:normAutofit/>
          </a:bodyPr>
          <a:lstStyle/>
          <a:p>
            <a:r>
              <a:rPr lang="en-US" dirty="0"/>
              <a:t>Performing NAMD simulations with </a:t>
            </a:r>
            <a:r>
              <a:rPr lang="en-US" dirty="0" err="1"/>
              <a:t>PySPAWN</a:t>
            </a:r>
            <a:r>
              <a:rPr lang="en-US" dirty="0"/>
              <a:t> on tert-butyl hydroperoxide</a:t>
            </a:r>
          </a:p>
          <a:p>
            <a:endParaRPr lang="en-US" dirty="0"/>
          </a:p>
          <a:p>
            <a:r>
              <a:rPr lang="en-US" b="1" dirty="0"/>
              <a:t>Objective: </a:t>
            </a:r>
            <a:r>
              <a:rPr lang="en-US" dirty="0"/>
              <a:t>After</a:t>
            </a:r>
            <a:r>
              <a:rPr lang="en-US" b="1" dirty="0"/>
              <a:t> </a:t>
            </a:r>
            <a:r>
              <a:rPr lang="en-US" dirty="0"/>
              <a:t>excitation, which electronic surface and through which pathway does tert-butyl hydroperoxide undergo RO–OH bond homolysis?</a:t>
            </a:r>
          </a:p>
          <a:p>
            <a:pPr lvl="1"/>
            <a:r>
              <a:rPr lang="en-US" dirty="0"/>
              <a:t>O–O homolysis occurs on S</a:t>
            </a:r>
            <a:r>
              <a:rPr lang="en-US" baseline="-25000" dirty="0"/>
              <a:t>1</a:t>
            </a:r>
            <a:r>
              <a:rPr lang="en-US" dirty="0"/>
              <a:t> or after transition through S</a:t>
            </a:r>
            <a:r>
              <a:rPr lang="en-US" baseline="-25000" dirty="0"/>
              <a:t>1</a:t>
            </a:r>
            <a:r>
              <a:rPr lang="en-US" dirty="0"/>
              <a:t>/S</a:t>
            </a:r>
            <a:r>
              <a:rPr lang="en-US" baseline="-25000" dirty="0"/>
              <a:t>0 </a:t>
            </a:r>
            <a:r>
              <a:rPr lang="en-US" dirty="0"/>
              <a:t>internal conversion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4F4434-E9E1-9487-76A3-2E14138C2907}"/>
              </a:ext>
            </a:extLst>
          </p:cNvPr>
          <p:cNvSpPr txBox="1">
            <a:spLocks/>
          </p:cNvSpPr>
          <p:nvPr/>
        </p:nvSpPr>
        <p:spPr>
          <a:xfrm>
            <a:off x="7443479" y="447832"/>
            <a:ext cx="4464333" cy="741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System of Interest: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811966C4-DEE2-31D2-85FD-33B11F864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5" t="7682" r="10188"/>
          <a:stretch>
            <a:fillRect/>
          </a:stretch>
        </p:blipFill>
        <p:spPr>
          <a:xfrm rot="2937323">
            <a:off x="8120701" y="1239111"/>
            <a:ext cx="3678261" cy="3470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DBD9FC-30F2-DDCD-3079-4CEFC9B889C3}"/>
              </a:ext>
            </a:extLst>
          </p:cNvPr>
          <p:cNvSpPr txBox="1"/>
          <p:nvPr/>
        </p:nvSpPr>
        <p:spPr>
          <a:xfrm>
            <a:off x="8513080" y="5025173"/>
            <a:ext cx="32854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aramond" panose="02020404030301010803" pitchFamily="18" charset="0"/>
              </a:rPr>
              <a:t>tert-butyl hydroperoxide (TBHP)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5D6723-6BA6-3D8E-FF19-57FB8B287D1C}"/>
              </a:ext>
            </a:extLst>
          </p:cNvPr>
          <p:cNvCxnSpPr>
            <a:cxnSpLocks/>
          </p:cNvCxnSpPr>
          <p:nvPr/>
        </p:nvCxnSpPr>
        <p:spPr>
          <a:xfrm>
            <a:off x="7443479" y="447832"/>
            <a:ext cx="0" cy="6024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5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B80F-1463-CBAC-3E14-8B2BC627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Electronic Structure Methods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27BAB-2486-DA2F-144C-245E170AB8C6}"/>
              </a:ext>
            </a:extLst>
          </p:cNvPr>
          <p:cNvSpPr txBox="1"/>
          <p:nvPr/>
        </p:nvSpPr>
        <p:spPr>
          <a:xfrm>
            <a:off x="838200" y="1684647"/>
            <a:ext cx="39472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Single Reference:</a:t>
            </a:r>
          </a:p>
          <a:p>
            <a:pPr algn="ctr"/>
            <a:r>
              <a:rPr lang="en-US" sz="2400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HF, KS-DFT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3A3293-142E-E99E-53DD-8FF94232C7E5}"/>
                  </a:ext>
                </a:extLst>
              </p:cNvPr>
              <p:cNvSpPr txBox="1"/>
              <p:nvPr/>
            </p:nvSpPr>
            <p:spPr>
              <a:xfrm>
                <a:off x="6792094" y="4056672"/>
                <a:ext cx="4812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3A3293-142E-E99E-53DD-8FF94232C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094" y="4056672"/>
                <a:ext cx="48122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54234F-B8F9-04DB-A3E5-6E32E30DD451}"/>
                  </a:ext>
                </a:extLst>
              </p:cNvPr>
              <p:cNvSpPr txBox="1"/>
              <p:nvPr/>
            </p:nvSpPr>
            <p:spPr>
              <a:xfrm>
                <a:off x="8378523" y="4073581"/>
                <a:ext cx="4812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54234F-B8F9-04DB-A3E5-6E32E30DD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523" y="4073581"/>
                <a:ext cx="48122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FC6BD2-57B9-B7FD-08C1-8104336A5E50}"/>
                  </a:ext>
                </a:extLst>
              </p:cNvPr>
              <p:cNvSpPr txBox="1"/>
              <p:nvPr/>
            </p:nvSpPr>
            <p:spPr>
              <a:xfrm>
                <a:off x="9960355" y="4073581"/>
                <a:ext cx="6383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FC6BD2-57B9-B7FD-08C1-8104336A5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355" y="4073581"/>
                <a:ext cx="63831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5237864-3CFB-2BAE-8550-41A9641B0016}"/>
              </a:ext>
            </a:extLst>
          </p:cNvPr>
          <p:cNvSpPr txBox="1"/>
          <p:nvPr/>
        </p:nvSpPr>
        <p:spPr>
          <a:xfrm>
            <a:off x="6012834" y="1690688"/>
            <a:ext cx="37875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Multi-Reference:</a:t>
            </a:r>
          </a:p>
          <a:p>
            <a:pPr algn="ctr"/>
            <a:r>
              <a:rPr lang="en-US" sz="2400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FCI, MCSCF, MRCI</a:t>
            </a:r>
          </a:p>
        </p:txBody>
      </p:sp>
      <p:pic>
        <p:nvPicPr>
          <p:cNvPr id="11" name="Picture 10" descr="\documentclass{article}&#10;\usepackage{amsmath,physics}&#10;\pagestyle{empty}&#10;\begin{document}&#10;&#10;\(|\psi\rangle = \)&#10;&#10;&#10;\end{document}" title="IguanaTex Bitmap Display">
            <a:extLst>
              <a:ext uri="{FF2B5EF4-FFF2-40B4-BE49-F238E27FC236}">
                <a16:creationId xmlns:a16="http://schemas.microsoft.com/office/drawing/2014/main" id="{FC8B024F-3B2F-2D71-ACC9-92FBA95A7D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18304" y="4172386"/>
            <a:ext cx="701040" cy="304800"/>
          </a:xfrm>
          <a:prstGeom prst="rect">
            <a:avLst/>
          </a:prstGeom>
        </p:spPr>
      </p:pic>
      <p:pic>
        <p:nvPicPr>
          <p:cNvPr id="12" name="Picture 11" descr="\documentclass{article}&#10;\usepackage{amsmath,physics}&#10;\pagestyle{empty}&#10;\begin{document}&#10;&#10;\(|\psi\rangle = \)&#10;&#10;&#10;\end{document}" title="IguanaTex Bitmap Display">
            <a:extLst>
              <a:ext uri="{FF2B5EF4-FFF2-40B4-BE49-F238E27FC236}">
                <a16:creationId xmlns:a16="http://schemas.microsoft.com/office/drawing/2014/main" id="{44108E8D-3BE8-1267-76F1-C6475C0681D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910828" y="4172386"/>
            <a:ext cx="701040" cy="30480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133145-4268-328B-1A48-F4BBBCC89C5F}"/>
              </a:ext>
            </a:extLst>
          </p:cNvPr>
          <p:cNvSpPr/>
          <p:nvPr/>
        </p:nvSpPr>
        <p:spPr>
          <a:xfrm>
            <a:off x="2251648" y="2549758"/>
            <a:ext cx="947922" cy="1737746"/>
          </a:xfrm>
          <a:prstGeom prst="roundRect">
            <a:avLst/>
          </a:prstGeom>
          <a:solidFill>
            <a:srgbClr val="FFB3B3">
              <a:alpha val="4902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8376AE-1C4B-275B-BBA5-493A9CD8F150}"/>
              </a:ext>
            </a:extLst>
          </p:cNvPr>
          <p:cNvSpPr/>
          <p:nvPr/>
        </p:nvSpPr>
        <p:spPr>
          <a:xfrm>
            <a:off x="2251648" y="4323979"/>
            <a:ext cx="947922" cy="1737746"/>
          </a:xfrm>
          <a:prstGeom prst="roundRect">
            <a:avLst/>
          </a:prstGeom>
          <a:solidFill>
            <a:srgbClr val="ED8AFE">
              <a:alpha val="47843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147205-803A-8616-B2A3-B6F533829680}"/>
              </a:ext>
            </a:extLst>
          </p:cNvPr>
          <p:cNvSpPr/>
          <p:nvPr/>
        </p:nvSpPr>
        <p:spPr>
          <a:xfrm>
            <a:off x="5765529" y="2549757"/>
            <a:ext cx="946950" cy="3586109"/>
          </a:xfrm>
          <a:prstGeom prst="roundRect">
            <a:avLst/>
          </a:prstGeom>
          <a:solidFill>
            <a:srgbClr val="A0FEF3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E12760-6355-9686-EB75-8BC006742886}"/>
              </a:ext>
            </a:extLst>
          </p:cNvPr>
          <p:cNvCxnSpPr/>
          <p:nvPr/>
        </p:nvCxnSpPr>
        <p:spPr>
          <a:xfrm>
            <a:off x="2375066" y="2878172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D7A544-29FC-C8C7-092E-05F4793A51B8}"/>
              </a:ext>
            </a:extLst>
          </p:cNvPr>
          <p:cNvCxnSpPr/>
          <p:nvPr/>
        </p:nvCxnSpPr>
        <p:spPr>
          <a:xfrm>
            <a:off x="2375066" y="3374955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88C713-EE21-0D20-7CA2-6A263CCFE0CD}"/>
              </a:ext>
            </a:extLst>
          </p:cNvPr>
          <p:cNvCxnSpPr/>
          <p:nvPr/>
        </p:nvCxnSpPr>
        <p:spPr>
          <a:xfrm>
            <a:off x="2375066" y="3895490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325A0B-0657-CCC9-70B9-08EDCB82881B}"/>
              </a:ext>
            </a:extLst>
          </p:cNvPr>
          <p:cNvCxnSpPr/>
          <p:nvPr/>
        </p:nvCxnSpPr>
        <p:spPr>
          <a:xfrm>
            <a:off x="2375066" y="4717700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86DD1F-5E76-BE5F-D446-509CC6C7EBE9}"/>
              </a:ext>
            </a:extLst>
          </p:cNvPr>
          <p:cNvCxnSpPr/>
          <p:nvPr/>
        </p:nvCxnSpPr>
        <p:spPr>
          <a:xfrm>
            <a:off x="2386941" y="5713246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AD6E13-28F4-EB22-69BF-E8DA6063A400}"/>
              </a:ext>
            </a:extLst>
          </p:cNvPr>
          <p:cNvCxnSpPr/>
          <p:nvPr/>
        </p:nvCxnSpPr>
        <p:spPr>
          <a:xfrm>
            <a:off x="2375066" y="5212505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C225C6-88E7-0CB0-BA4A-AB950633894D}"/>
              </a:ext>
            </a:extLst>
          </p:cNvPr>
          <p:cNvCxnSpPr/>
          <p:nvPr/>
        </p:nvCxnSpPr>
        <p:spPr>
          <a:xfrm>
            <a:off x="5888504" y="295231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CADC7A-BB0B-D1EC-2B83-5B26ED03CD14}"/>
              </a:ext>
            </a:extLst>
          </p:cNvPr>
          <p:cNvCxnSpPr/>
          <p:nvPr/>
        </p:nvCxnSpPr>
        <p:spPr>
          <a:xfrm>
            <a:off x="5888504" y="3486168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57EDDC-AAB1-672F-BBE1-65C3B332A3C2}"/>
              </a:ext>
            </a:extLst>
          </p:cNvPr>
          <p:cNvCxnSpPr/>
          <p:nvPr/>
        </p:nvCxnSpPr>
        <p:spPr>
          <a:xfrm>
            <a:off x="5888504" y="404377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A78D23-AA3F-29D0-EE50-8226AD95889A}"/>
              </a:ext>
            </a:extLst>
          </p:cNvPr>
          <p:cNvCxnSpPr/>
          <p:nvPr/>
        </p:nvCxnSpPr>
        <p:spPr>
          <a:xfrm>
            <a:off x="5888504" y="4608555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968FD7-B457-DA93-CDA2-40436B143067}"/>
              </a:ext>
            </a:extLst>
          </p:cNvPr>
          <p:cNvCxnSpPr/>
          <p:nvPr/>
        </p:nvCxnSpPr>
        <p:spPr>
          <a:xfrm>
            <a:off x="5888504" y="5185649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4718AF-F1FA-3857-F8E3-8B8B0F17BF64}"/>
              </a:ext>
            </a:extLst>
          </p:cNvPr>
          <p:cNvCxnSpPr/>
          <p:nvPr/>
        </p:nvCxnSpPr>
        <p:spPr>
          <a:xfrm>
            <a:off x="5900861" y="571854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93EBB26-1E45-B1AF-B2EE-B0884D2D1FD7}"/>
              </a:ext>
            </a:extLst>
          </p:cNvPr>
          <p:cNvSpPr/>
          <p:nvPr/>
        </p:nvSpPr>
        <p:spPr>
          <a:xfrm>
            <a:off x="7389467" y="2549757"/>
            <a:ext cx="946950" cy="3586109"/>
          </a:xfrm>
          <a:prstGeom prst="roundRect">
            <a:avLst/>
          </a:prstGeom>
          <a:solidFill>
            <a:srgbClr val="A0FEF3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AAFEA6-4C27-FE0C-4294-C81CBF1BE228}"/>
              </a:ext>
            </a:extLst>
          </p:cNvPr>
          <p:cNvCxnSpPr/>
          <p:nvPr/>
        </p:nvCxnSpPr>
        <p:spPr>
          <a:xfrm>
            <a:off x="7512442" y="295231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8F9AB1-D01A-4DD4-57B8-0A40648D7907}"/>
              </a:ext>
            </a:extLst>
          </p:cNvPr>
          <p:cNvCxnSpPr/>
          <p:nvPr/>
        </p:nvCxnSpPr>
        <p:spPr>
          <a:xfrm>
            <a:off x="7512442" y="3486168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D87E50-976E-1987-CC0F-CAC7EECD43E2}"/>
              </a:ext>
            </a:extLst>
          </p:cNvPr>
          <p:cNvCxnSpPr/>
          <p:nvPr/>
        </p:nvCxnSpPr>
        <p:spPr>
          <a:xfrm>
            <a:off x="7512442" y="404377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FE7DAE-618A-4594-8CA3-67FA163C691F}"/>
              </a:ext>
            </a:extLst>
          </p:cNvPr>
          <p:cNvCxnSpPr/>
          <p:nvPr/>
        </p:nvCxnSpPr>
        <p:spPr>
          <a:xfrm>
            <a:off x="7512442" y="4608555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978F9-A9D6-8641-D27A-0C55529AD3A8}"/>
              </a:ext>
            </a:extLst>
          </p:cNvPr>
          <p:cNvCxnSpPr/>
          <p:nvPr/>
        </p:nvCxnSpPr>
        <p:spPr>
          <a:xfrm>
            <a:off x="7512442" y="5185649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22110EE-0F99-97D2-A7B5-0214E7BA75BF}"/>
              </a:ext>
            </a:extLst>
          </p:cNvPr>
          <p:cNvCxnSpPr/>
          <p:nvPr/>
        </p:nvCxnSpPr>
        <p:spPr>
          <a:xfrm>
            <a:off x="7524799" y="571854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906A36A-CEB7-7B12-A265-A9FF40C8048D}"/>
              </a:ext>
            </a:extLst>
          </p:cNvPr>
          <p:cNvSpPr/>
          <p:nvPr/>
        </p:nvSpPr>
        <p:spPr>
          <a:xfrm>
            <a:off x="8936574" y="2549757"/>
            <a:ext cx="946950" cy="3586109"/>
          </a:xfrm>
          <a:prstGeom prst="roundRect">
            <a:avLst/>
          </a:prstGeom>
          <a:solidFill>
            <a:srgbClr val="A0FEF3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32814B8-B5A6-97A2-0EEC-8945044AE98C}"/>
              </a:ext>
            </a:extLst>
          </p:cNvPr>
          <p:cNvCxnSpPr/>
          <p:nvPr/>
        </p:nvCxnSpPr>
        <p:spPr>
          <a:xfrm>
            <a:off x="9059549" y="295231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CE573C-1DDB-BBE8-B0D6-A3DE39F5FD51}"/>
              </a:ext>
            </a:extLst>
          </p:cNvPr>
          <p:cNvCxnSpPr/>
          <p:nvPr/>
        </p:nvCxnSpPr>
        <p:spPr>
          <a:xfrm>
            <a:off x="9059549" y="3486168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224B58-B8FC-844D-1D11-E64F8DF2ACF8}"/>
              </a:ext>
            </a:extLst>
          </p:cNvPr>
          <p:cNvCxnSpPr/>
          <p:nvPr/>
        </p:nvCxnSpPr>
        <p:spPr>
          <a:xfrm>
            <a:off x="9059549" y="404377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BC175B-C468-177E-1D0A-3D2DD666AA48}"/>
              </a:ext>
            </a:extLst>
          </p:cNvPr>
          <p:cNvCxnSpPr/>
          <p:nvPr/>
        </p:nvCxnSpPr>
        <p:spPr>
          <a:xfrm>
            <a:off x="9059549" y="4608555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AB97E0-30B6-752C-B8A7-92CABE08F5EC}"/>
              </a:ext>
            </a:extLst>
          </p:cNvPr>
          <p:cNvCxnSpPr/>
          <p:nvPr/>
        </p:nvCxnSpPr>
        <p:spPr>
          <a:xfrm>
            <a:off x="9059549" y="5185649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556D11-C2A3-F56B-FE1D-71BFDE941B93}"/>
              </a:ext>
            </a:extLst>
          </p:cNvPr>
          <p:cNvCxnSpPr/>
          <p:nvPr/>
        </p:nvCxnSpPr>
        <p:spPr>
          <a:xfrm>
            <a:off x="9071906" y="571854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2DDB4F1-9468-0BFA-55CE-98CC548B85CF}"/>
              </a:ext>
            </a:extLst>
          </p:cNvPr>
          <p:cNvSpPr txBox="1"/>
          <p:nvPr/>
        </p:nvSpPr>
        <p:spPr>
          <a:xfrm>
            <a:off x="10648099" y="40735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905A1DA-8CA4-E7C1-014C-E2710937FE1D}"/>
              </a:ext>
            </a:extLst>
          </p:cNvPr>
          <p:cNvCxnSpPr>
            <a:cxnSpLocks/>
          </p:cNvCxnSpPr>
          <p:nvPr/>
        </p:nvCxnSpPr>
        <p:spPr>
          <a:xfrm flipV="1">
            <a:off x="2642564" y="5542414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3739FF-FE0E-9A9F-240A-592AE6A74674}"/>
              </a:ext>
            </a:extLst>
          </p:cNvPr>
          <p:cNvCxnSpPr>
            <a:cxnSpLocks/>
          </p:cNvCxnSpPr>
          <p:nvPr/>
        </p:nvCxnSpPr>
        <p:spPr>
          <a:xfrm flipV="1">
            <a:off x="2635584" y="504167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7E3514F-1B25-B0E1-15F2-285E2CEFAE84}"/>
              </a:ext>
            </a:extLst>
          </p:cNvPr>
          <p:cNvCxnSpPr>
            <a:cxnSpLocks/>
          </p:cNvCxnSpPr>
          <p:nvPr/>
        </p:nvCxnSpPr>
        <p:spPr>
          <a:xfrm flipV="1">
            <a:off x="2635584" y="4524121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B602259-2949-FD8D-C6C5-D6D9B391659F}"/>
              </a:ext>
            </a:extLst>
          </p:cNvPr>
          <p:cNvCxnSpPr>
            <a:cxnSpLocks/>
          </p:cNvCxnSpPr>
          <p:nvPr/>
        </p:nvCxnSpPr>
        <p:spPr>
          <a:xfrm flipV="1">
            <a:off x="6096000" y="5542414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18DA109-B0B7-9893-6639-EBA0F5434569}"/>
              </a:ext>
            </a:extLst>
          </p:cNvPr>
          <p:cNvCxnSpPr>
            <a:cxnSpLocks/>
          </p:cNvCxnSpPr>
          <p:nvPr/>
        </p:nvCxnSpPr>
        <p:spPr>
          <a:xfrm flipV="1">
            <a:off x="6096000" y="500083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1B0AB9-5EF0-8AF5-3457-9EAD998C6F10}"/>
              </a:ext>
            </a:extLst>
          </p:cNvPr>
          <p:cNvCxnSpPr>
            <a:cxnSpLocks/>
          </p:cNvCxnSpPr>
          <p:nvPr/>
        </p:nvCxnSpPr>
        <p:spPr>
          <a:xfrm flipV="1">
            <a:off x="6096000" y="443711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0C07BEF-8DEA-DCA1-CE8B-B21814C81395}"/>
              </a:ext>
            </a:extLst>
          </p:cNvPr>
          <p:cNvCxnSpPr>
            <a:cxnSpLocks/>
          </p:cNvCxnSpPr>
          <p:nvPr/>
        </p:nvCxnSpPr>
        <p:spPr>
          <a:xfrm flipV="1">
            <a:off x="7748946" y="275549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4F155F-5DDC-D27F-B1DE-43EBE12E774C}"/>
              </a:ext>
            </a:extLst>
          </p:cNvPr>
          <p:cNvCxnSpPr>
            <a:cxnSpLocks/>
          </p:cNvCxnSpPr>
          <p:nvPr/>
        </p:nvCxnSpPr>
        <p:spPr>
          <a:xfrm flipV="1">
            <a:off x="7708079" y="500083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418B552-D05E-6EBF-C5F0-7618FF6B0D47}"/>
              </a:ext>
            </a:extLst>
          </p:cNvPr>
          <p:cNvCxnSpPr>
            <a:cxnSpLocks/>
          </p:cNvCxnSpPr>
          <p:nvPr/>
        </p:nvCxnSpPr>
        <p:spPr>
          <a:xfrm flipV="1">
            <a:off x="7708079" y="440296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AE71073-F5EA-4AF9-B114-8A63E22CA785}"/>
              </a:ext>
            </a:extLst>
          </p:cNvPr>
          <p:cNvCxnSpPr>
            <a:cxnSpLocks/>
          </p:cNvCxnSpPr>
          <p:nvPr/>
        </p:nvCxnSpPr>
        <p:spPr>
          <a:xfrm flipV="1">
            <a:off x="7963399" y="275549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38A8A2-E6D9-0589-E68A-28E5C928240C}"/>
              </a:ext>
            </a:extLst>
          </p:cNvPr>
          <p:cNvCxnSpPr>
            <a:cxnSpLocks/>
          </p:cNvCxnSpPr>
          <p:nvPr/>
        </p:nvCxnSpPr>
        <p:spPr>
          <a:xfrm flipV="1">
            <a:off x="7963399" y="388584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1540DEA-738A-9529-4B2A-99D78E3CB17F}"/>
              </a:ext>
            </a:extLst>
          </p:cNvPr>
          <p:cNvCxnSpPr>
            <a:cxnSpLocks/>
          </p:cNvCxnSpPr>
          <p:nvPr/>
        </p:nvCxnSpPr>
        <p:spPr>
          <a:xfrm flipV="1">
            <a:off x="7963399" y="501481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F48131C-5910-B5C5-39EC-EBBF13EA8DD8}"/>
              </a:ext>
            </a:extLst>
          </p:cNvPr>
          <p:cNvCxnSpPr>
            <a:cxnSpLocks/>
          </p:cNvCxnSpPr>
          <p:nvPr/>
        </p:nvCxnSpPr>
        <p:spPr>
          <a:xfrm flipV="1">
            <a:off x="6307939" y="443711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4269777-16B7-F4BB-1EC7-00AE5883B964}"/>
              </a:ext>
            </a:extLst>
          </p:cNvPr>
          <p:cNvCxnSpPr>
            <a:cxnSpLocks/>
          </p:cNvCxnSpPr>
          <p:nvPr/>
        </p:nvCxnSpPr>
        <p:spPr>
          <a:xfrm flipV="1">
            <a:off x="6307939" y="501481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A9E0870-2164-9523-65CD-70F1862BC5B0}"/>
              </a:ext>
            </a:extLst>
          </p:cNvPr>
          <p:cNvCxnSpPr>
            <a:cxnSpLocks/>
          </p:cNvCxnSpPr>
          <p:nvPr/>
        </p:nvCxnSpPr>
        <p:spPr>
          <a:xfrm flipV="1">
            <a:off x="6307939" y="5542414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03A5D1A-8E05-AFD1-4845-0FEFAD1B2BAF}"/>
              </a:ext>
            </a:extLst>
          </p:cNvPr>
          <p:cNvCxnSpPr>
            <a:cxnSpLocks/>
          </p:cNvCxnSpPr>
          <p:nvPr/>
        </p:nvCxnSpPr>
        <p:spPr>
          <a:xfrm flipV="1">
            <a:off x="2795759" y="4524121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EE1F27B-8138-2CE7-510A-F4CCE2009F14}"/>
              </a:ext>
            </a:extLst>
          </p:cNvPr>
          <p:cNvCxnSpPr>
            <a:cxnSpLocks/>
          </p:cNvCxnSpPr>
          <p:nvPr/>
        </p:nvCxnSpPr>
        <p:spPr>
          <a:xfrm flipV="1">
            <a:off x="2795759" y="5061751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918FC1B-1CA2-9F9E-5818-25199DBC6F53}"/>
              </a:ext>
            </a:extLst>
          </p:cNvPr>
          <p:cNvCxnSpPr>
            <a:cxnSpLocks/>
          </p:cNvCxnSpPr>
          <p:nvPr/>
        </p:nvCxnSpPr>
        <p:spPr>
          <a:xfrm flipV="1">
            <a:off x="2795759" y="5542414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66ABEB1-EB09-71A9-CE64-858D33E639F2}"/>
              </a:ext>
            </a:extLst>
          </p:cNvPr>
          <p:cNvCxnSpPr>
            <a:cxnSpLocks/>
          </p:cNvCxnSpPr>
          <p:nvPr/>
        </p:nvCxnSpPr>
        <p:spPr>
          <a:xfrm flipV="1">
            <a:off x="9270989" y="5542414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78DA963-C31D-4618-EE7F-4220CB912D46}"/>
              </a:ext>
            </a:extLst>
          </p:cNvPr>
          <p:cNvCxnSpPr>
            <a:cxnSpLocks/>
          </p:cNvCxnSpPr>
          <p:nvPr/>
        </p:nvCxnSpPr>
        <p:spPr>
          <a:xfrm flipV="1">
            <a:off x="9526309" y="5556401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893F1FD-1061-5984-4AF7-6F03A1F2FCBC}"/>
              </a:ext>
            </a:extLst>
          </p:cNvPr>
          <p:cNvCxnSpPr>
            <a:cxnSpLocks/>
          </p:cNvCxnSpPr>
          <p:nvPr/>
        </p:nvCxnSpPr>
        <p:spPr>
          <a:xfrm flipV="1">
            <a:off x="9270989" y="3315336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9F11317-1861-F726-0746-FA3A77026F38}"/>
              </a:ext>
            </a:extLst>
          </p:cNvPr>
          <p:cNvCxnSpPr>
            <a:cxnSpLocks/>
          </p:cNvCxnSpPr>
          <p:nvPr/>
        </p:nvCxnSpPr>
        <p:spPr>
          <a:xfrm flipV="1">
            <a:off x="9526309" y="332932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2485E3F-6201-5A93-4DBA-501D3829C4A2}"/>
              </a:ext>
            </a:extLst>
          </p:cNvPr>
          <p:cNvCxnSpPr>
            <a:cxnSpLocks/>
          </p:cNvCxnSpPr>
          <p:nvPr/>
        </p:nvCxnSpPr>
        <p:spPr>
          <a:xfrm flipV="1">
            <a:off x="9529240" y="4477186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AE06301-084C-FF56-2172-D53F24B6232C}"/>
              </a:ext>
            </a:extLst>
          </p:cNvPr>
          <p:cNvCxnSpPr>
            <a:cxnSpLocks/>
          </p:cNvCxnSpPr>
          <p:nvPr/>
        </p:nvCxnSpPr>
        <p:spPr>
          <a:xfrm flipV="1">
            <a:off x="9270989" y="500083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03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81B1-B0C2-C46E-5CF8-33D7B927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AAD498-9656-35A9-80AE-6AFEDBADCA47}"/>
              </a:ext>
            </a:extLst>
          </p:cNvPr>
          <p:cNvSpPr txBox="1"/>
          <p:nvPr/>
        </p:nvSpPr>
        <p:spPr>
          <a:xfrm>
            <a:off x="-1492624" y="10892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9FD7341-BDB2-BC23-392F-77BB8A80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ea typeface="Verdana" panose="020B0604030504040204" pitchFamily="34" charset="0"/>
                <a:cs typeface="Verdana" panose="020B0604030504040204" pitchFamily="34" charset="0"/>
              </a:rPr>
              <a:t>Complete Active Space Self Consistent Field (CASSCF)</a:t>
            </a:r>
            <a:br>
              <a:rPr lang="en-US" sz="3600" dirty="0"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246C30-A62A-2741-857D-51FE6DDD2A72}"/>
                  </a:ext>
                </a:extLst>
              </p:cNvPr>
              <p:cNvSpPr txBox="1"/>
              <p:nvPr/>
            </p:nvSpPr>
            <p:spPr>
              <a:xfrm>
                <a:off x="2344555" y="3830103"/>
                <a:ext cx="6383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246C30-A62A-2741-857D-51FE6DDD2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555" y="3830103"/>
                <a:ext cx="63831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\documentclass{article}&#10;\usepackage{amsmath,physics}&#10;\pagestyle{empty}&#10;\begin{document}&#10;&#10;\(|\psi\rangle = \)&#10;&#10;&#10;\end{document}" title="IguanaTex Bitmap Display">
            <a:extLst>
              <a:ext uri="{FF2B5EF4-FFF2-40B4-BE49-F238E27FC236}">
                <a16:creationId xmlns:a16="http://schemas.microsoft.com/office/drawing/2014/main" id="{A3A7676D-1294-340A-E15D-CC424A4B8D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0410" y="3944924"/>
            <a:ext cx="701040" cy="3048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5C4E2C-72B6-CEF2-BA76-382ED30A2E53}"/>
              </a:ext>
            </a:extLst>
          </p:cNvPr>
          <p:cNvSpPr/>
          <p:nvPr/>
        </p:nvSpPr>
        <p:spPr>
          <a:xfrm>
            <a:off x="1482186" y="3546674"/>
            <a:ext cx="946950" cy="1151060"/>
          </a:xfrm>
          <a:prstGeom prst="roundRect">
            <a:avLst/>
          </a:prstGeom>
          <a:solidFill>
            <a:srgbClr val="A0FEF3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6A8F87-5C81-121C-BF31-4C9C39E86F89}"/>
              </a:ext>
            </a:extLst>
          </p:cNvPr>
          <p:cNvCxnSpPr/>
          <p:nvPr/>
        </p:nvCxnSpPr>
        <p:spPr>
          <a:xfrm>
            <a:off x="1612843" y="600701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D54A4D-1113-E4B7-0F12-BD070544F356}"/>
              </a:ext>
            </a:extLst>
          </p:cNvPr>
          <p:cNvCxnSpPr>
            <a:cxnSpLocks/>
          </p:cNvCxnSpPr>
          <p:nvPr/>
        </p:nvCxnSpPr>
        <p:spPr>
          <a:xfrm>
            <a:off x="1610214" y="3844812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4A11C1-A742-A9A1-A078-D94E04994432}"/>
              </a:ext>
            </a:extLst>
          </p:cNvPr>
          <p:cNvCxnSpPr>
            <a:cxnSpLocks/>
          </p:cNvCxnSpPr>
          <p:nvPr/>
        </p:nvCxnSpPr>
        <p:spPr>
          <a:xfrm>
            <a:off x="1622571" y="437770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19F998-76E5-C147-BBEA-C7945D4A90E3}"/>
              </a:ext>
            </a:extLst>
          </p:cNvPr>
          <p:cNvSpPr txBox="1"/>
          <p:nvPr/>
        </p:nvSpPr>
        <p:spPr>
          <a:xfrm>
            <a:off x="5361092" y="38693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EB8339-622D-E59A-3CEE-B708BDAC4080}"/>
              </a:ext>
            </a:extLst>
          </p:cNvPr>
          <p:cNvCxnSpPr>
            <a:cxnSpLocks/>
          </p:cNvCxnSpPr>
          <p:nvPr/>
        </p:nvCxnSpPr>
        <p:spPr>
          <a:xfrm flipV="1">
            <a:off x="1817710" y="420157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8EE631-55FB-07D0-94C7-B83B06C46AD3}"/>
              </a:ext>
            </a:extLst>
          </p:cNvPr>
          <p:cNvCxnSpPr>
            <a:cxnSpLocks/>
          </p:cNvCxnSpPr>
          <p:nvPr/>
        </p:nvCxnSpPr>
        <p:spPr>
          <a:xfrm flipV="1">
            <a:off x="2029649" y="420157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D5B7E0-610B-9B73-77DB-9C4F091A07A0}"/>
              </a:ext>
            </a:extLst>
          </p:cNvPr>
          <p:cNvSpPr txBox="1"/>
          <p:nvPr/>
        </p:nvSpPr>
        <p:spPr>
          <a:xfrm rot="16200000">
            <a:off x="808045" y="3909417"/>
            <a:ext cx="854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76C1BA"/>
                </a:solidFill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Active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BE7DD9D-AA0A-B18A-8912-B2BE3465B6D4}"/>
              </a:ext>
            </a:extLst>
          </p:cNvPr>
          <p:cNvSpPr/>
          <p:nvPr/>
        </p:nvSpPr>
        <p:spPr>
          <a:xfrm>
            <a:off x="1483752" y="4710990"/>
            <a:ext cx="946950" cy="1610278"/>
          </a:xfrm>
          <a:prstGeom prst="roundRect">
            <a:avLst/>
          </a:prstGeom>
          <a:solidFill>
            <a:srgbClr val="ED8AFE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D8AFE"/>
              </a:solidFill>
              <a:latin typeface="Garamond" panose="02020404030301010803" pitchFamily="18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BE9167-E2DF-B087-7E07-481E964CFA32}"/>
              </a:ext>
            </a:extLst>
          </p:cNvPr>
          <p:cNvCxnSpPr>
            <a:cxnSpLocks/>
          </p:cNvCxnSpPr>
          <p:nvPr/>
        </p:nvCxnSpPr>
        <p:spPr>
          <a:xfrm>
            <a:off x="1600486" y="505035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7BBFA9-13D9-35AE-161B-14D0773DD8F0}"/>
              </a:ext>
            </a:extLst>
          </p:cNvPr>
          <p:cNvCxnSpPr>
            <a:cxnSpLocks/>
          </p:cNvCxnSpPr>
          <p:nvPr/>
        </p:nvCxnSpPr>
        <p:spPr>
          <a:xfrm>
            <a:off x="1620374" y="553323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150F4E-E873-3BF6-0D76-D054F617984E}"/>
              </a:ext>
            </a:extLst>
          </p:cNvPr>
          <p:cNvCxnSpPr>
            <a:cxnSpLocks/>
          </p:cNvCxnSpPr>
          <p:nvPr/>
        </p:nvCxnSpPr>
        <p:spPr>
          <a:xfrm flipV="1">
            <a:off x="1818142" y="535048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7CB455-7213-62A1-6ACC-14A6B680AB9A}"/>
              </a:ext>
            </a:extLst>
          </p:cNvPr>
          <p:cNvCxnSpPr>
            <a:cxnSpLocks/>
          </p:cNvCxnSpPr>
          <p:nvPr/>
        </p:nvCxnSpPr>
        <p:spPr>
          <a:xfrm flipV="1">
            <a:off x="2030081" y="535048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37EB45-9555-8E88-D211-09519E1F0F55}"/>
                  </a:ext>
                </a:extLst>
              </p:cNvPr>
              <p:cNvSpPr txBox="1"/>
              <p:nvPr/>
            </p:nvSpPr>
            <p:spPr>
              <a:xfrm>
                <a:off x="3731106" y="3824665"/>
                <a:ext cx="6383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37EB45-9555-8E88-D211-09519E1F0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106" y="3824665"/>
                <a:ext cx="63831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37DD1F-D28E-A76E-0885-18A068DBAD11}"/>
              </a:ext>
            </a:extLst>
          </p:cNvPr>
          <p:cNvCxnSpPr>
            <a:cxnSpLocks/>
          </p:cNvCxnSpPr>
          <p:nvPr/>
        </p:nvCxnSpPr>
        <p:spPr>
          <a:xfrm flipV="1">
            <a:off x="1823222" y="583438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ED89DE-A3F8-93A9-DCEA-7E9D679A1450}"/>
              </a:ext>
            </a:extLst>
          </p:cNvPr>
          <p:cNvCxnSpPr>
            <a:cxnSpLocks/>
          </p:cNvCxnSpPr>
          <p:nvPr/>
        </p:nvCxnSpPr>
        <p:spPr>
          <a:xfrm flipV="1">
            <a:off x="2035161" y="583438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26E3D1F-2CF5-4E8E-E4D7-B4248BEA03A7}"/>
              </a:ext>
            </a:extLst>
          </p:cNvPr>
          <p:cNvSpPr/>
          <p:nvPr/>
        </p:nvSpPr>
        <p:spPr>
          <a:xfrm>
            <a:off x="1474188" y="1917618"/>
            <a:ext cx="946950" cy="1610278"/>
          </a:xfrm>
          <a:prstGeom prst="roundRect">
            <a:avLst/>
          </a:prstGeom>
          <a:solidFill>
            <a:srgbClr val="FFB3B3">
              <a:alpha val="4902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11FC28-197D-7F51-04D0-3EC2E556A76A}"/>
              </a:ext>
            </a:extLst>
          </p:cNvPr>
          <p:cNvCxnSpPr/>
          <p:nvPr/>
        </p:nvCxnSpPr>
        <p:spPr>
          <a:xfrm>
            <a:off x="1633838" y="2259663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FB26996-C879-1081-9017-11C7C7890B94}"/>
              </a:ext>
            </a:extLst>
          </p:cNvPr>
          <p:cNvCxnSpPr/>
          <p:nvPr/>
        </p:nvCxnSpPr>
        <p:spPr>
          <a:xfrm>
            <a:off x="1633838" y="2718250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40D63C-7878-5874-4868-6CBE06886DE7}"/>
              </a:ext>
            </a:extLst>
          </p:cNvPr>
          <p:cNvCxnSpPr/>
          <p:nvPr/>
        </p:nvCxnSpPr>
        <p:spPr>
          <a:xfrm>
            <a:off x="1633838" y="3177408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0F7C80-94E6-6AF2-258D-BD4C3BEEA1A9}"/>
              </a:ext>
            </a:extLst>
          </p:cNvPr>
          <p:cNvCxnSpPr>
            <a:cxnSpLocks/>
          </p:cNvCxnSpPr>
          <p:nvPr/>
        </p:nvCxnSpPr>
        <p:spPr>
          <a:xfrm flipV="1">
            <a:off x="1807550" y="486683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1F3A3F-3DA9-2B39-617B-98F346899DB7}"/>
              </a:ext>
            </a:extLst>
          </p:cNvPr>
          <p:cNvCxnSpPr>
            <a:cxnSpLocks/>
          </p:cNvCxnSpPr>
          <p:nvPr/>
        </p:nvCxnSpPr>
        <p:spPr>
          <a:xfrm flipV="1">
            <a:off x="2019489" y="486683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7A0931B-1E07-A5C1-151C-C8FC761C2879}"/>
              </a:ext>
            </a:extLst>
          </p:cNvPr>
          <p:cNvSpPr/>
          <p:nvPr/>
        </p:nvSpPr>
        <p:spPr>
          <a:xfrm>
            <a:off x="2914586" y="3546674"/>
            <a:ext cx="946950" cy="1151060"/>
          </a:xfrm>
          <a:prstGeom prst="roundRect">
            <a:avLst/>
          </a:prstGeom>
          <a:solidFill>
            <a:srgbClr val="A0FEF3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5EAF4B-CF20-3039-8E30-320705CD4D00}"/>
              </a:ext>
            </a:extLst>
          </p:cNvPr>
          <p:cNvCxnSpPr/>
          <p:nvPr/>
        </p:nvCxnSpPr>
        <p:spPr>
          <a:xfrm>
            <a:off x="3045243" y="600701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761AF3-3F62-C298-B95F-E16F153A34CA}"/>
              </a:ext>
            </a:extLst>
          </p:cNvPr>
          <p:cNvCxnSpPr>
            <a:cxnSpLocks/>
          </p:cNvCxnSpPr>
          <p:nvPr/>
        </p:nvCxnSpPr>
        <p:spPr>
          <a:xfrm>
            <a:off x="3042614" y="3844812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7949CE-FE60-C9B3-A019-393FE9324401}"/>
              </a:ext>
            </a:extLst>
          </p:cNvPr>
          <p:cNvCxnSpPr>
            <a:cxnSpLocks/>
          </p:cNvCxnSpPr>
          <p:nvPr/>
        </p:nvCxnSpPr>
        <p:spPr>
          <a:xfrm>
            <a:off x="3054971" y="437770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1493C3C-7EB4-184D-BE98-189FB4B8DB36}"/>
              </a:ext>
            </a:extLst>
          </p:cNvPr>
          <p:cNvCxnSpPr>
            <a:cxnSpLocks/>
          </p:cNvCxnSpPr>
          <p:nvPr/>
        </p:nvCxnSpPr>
        <p:spPr>
          <a:xfrm flipV="1">
            <a:off x="3250110" y="420157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21136B-04D5-2966-4533-589B21DCE638}"/>
              </a:ext>
            </a:extLst>
          </p:cNvPr>
          <p:cNvCxnSpPr>
            <a:cxnSpLocks/>
          </p:cNvCxnSpPr>
          <p:nvPr/>
        </p:nvCxnSpPr>
        <p:spPr>
          <a:xfrm flipV="1">
            <a:off x="3462049" y="3704862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871078C-97DA-EE83-558C-94E5AA9A8A58}"/>
              </a:ext>
            </a:extLst>
          </p:cNvPr>
          <p:cNvSpPr/>
          <p:nvPr/>
        </p:nvSpPr>
        <p:spPr>
          <a:xfrm>
            <a:off x="2916152" y="4710990"/>
            <a:ext cx="946950" cy="1610278"/>
          </a:xfrm>
          <a:prstGeom prst="roundRect">
            <a:avLst/>
          </a:prstGeom>
          <a:solidFill>
            <a:srgbClr val="ED8AFE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D8AFE"/>
              </a:solidFill>
              <a:latin typeface="Garamond" panose="020204040303010108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8440CE3-B85F-5ACC-397C-91E43B8596B5}"/>
              </a:ext>
            </a:extLst>
          </p:cNvPr>
          <p:cNvCxnSpPr>
            <a:cxnSpLocks/>
          </p:cNvCxnSpPr>
          <p:nvPr/>
        </p:nvCxnSpPr>
        <p:spPr>
          <a:xfrm>
            <a:off x="3032886" y="505035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6EDF882-DC68-AA88-CCF1-6AA99023CF83}"/>
              </a:ext>
            </a:extLst>
          </p:cNvPr>
          <p:cNvCxnSpPr>
            <a:cxnSpLocks/>
          </p:cNvCxnSpPr>
          <p:nvPr/>
        </p:nvCxnSpPr>
        <p:spPr>
          <a:xfrm>
            <a:off x="3052774" y="553323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A191E9-C32F-5E93-719E-9667F51EB712}"/>
              </a:ext>
            </a:extLst>
          </p:cNvPr>
          <p:cNvCxnSpPr>
            <a:cxnSpLocks/>
          </p:cNvCxnSpPr>
          <p:nvPr/>
        </p:nvCxnSpPr>
        <p:spPr>
          <a:xfrm flipV="1">
            <a:off x="3250542" y="535048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49FEEFF-5086-B5F1-3899-B575E5473A42}"/>
              </a:ext>
            </a:extLst>
          </p:cNvPr>
          <p:cNvCxnSpPr>
            <a:cxnSpLocks/>
          </p:cNvCxnSpPr>
          <p:nvPr/>
        </p:nvCxnSpPr>
        <p:spPr>
          <a:xfrm flipV="1">
            <a:off x="3462481" y="535048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6B9D651-778A-DE71-AD4F-11B72B155C79}"/>
              </a:ext>
            </a:extLst>
          </p:cNvPr>
          <p:cNvCxnSpPr>
            <a:cxnSpLocks/>
          </p:cNvCxnSpPr>
          <p:nvPr/>
        </p:nvCxnSpPr>
        <p:spPr>
          <a:xfrm flipV="1">
            <a:off x="3255622" y="583438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8FCB63E-1601-9AC1-90B0-2939A49DD6DF}"/>
              </a:ext>
            </a:extLst>
          </p:cNvPr>
          <p:cNvCxnSpPr>
            <a:cxnSpLocks/>
          </p:cNvCxnSpPr>
          <p:nvPr/>
        </p:nvCxnSpPr>
        <p:spPr>
          <a:xfrm flipV="1">
            <a:off x="3467561" y="583438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42A10A5-DE50-601E-FEEA-E0D970106E33}"/>
              </a:ext>
            </a:extLst>
          </p:cNvPr>
          <p:cNvSpPr/>
          <p:nvPr/>
        </p:nvSpPr>
        <p:spPr>
          <a:xfrm>
            <a:off x="2906588" y="1917618"/>
            <a:ext cx="946950" cy="1610278"/>
          </a:xfrm>
          <a:prstGeom prst="roundRect">
            <a:avLst/>
          </a:prstGeom>
          <a:solidFill>
            <a:srgbClr val="FFB3B3">
              <a:alpha val="4902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3D881B5-BB9A-C2E4-49A2-3ABB88F859BC}"/>
              </a:ext>
            </a:extLst>
          </p:cNvPr>
          <p:cNvCxnSpPr/>
          <p:nvPr/>
        </p:nvCxnSpPr>
        <p:spPr>
          <a:xfrm>
            <a:off x="3066238" y="2259663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81DB8D-86CB-83E5-9EE5-4EEF83C21EDD}"/>
              </a:ext>
            </a:extLst>
          </p:cNvPr>
          <p:cNvCxnSpPr/>
          <p:nvPr/>
        </p:nvCxnSpPr>
        <p:spPr>
          <a:xfrm>
            <a:off x="3066238" y="2718250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7AEC7CD-0573-7BEF-FBA2-199E2DD2EA6A}"/>
              </a:ext>
            </a:extLst>
          </p:cNvPr>
          <p:cNvCxnSpPr/>
          <p:nvPr/>
        </p:nvCxnSpPr>
        <p:spPr>
          <a:xfrm>
            <a:off x="3066238" y="3177408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C5773ED-0620-567D-4AFD-BCF8846772B6}"/>
              </a:ext>
            </a:extLst>
          </p:cNvPr>
          <p:cNvCxnSpPr>
            <a:cxnSpLocks/>
          </p:cNvCxnSpPr>
          <p:nvPr/>
        </p:nvCxnSpPr>
        <p:spPr>
          <a:xfrm flipV="1">
            <a:off x="3239950" y="486683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D3AABE4-4B7B-162B-E14A-0CA28B3BD039}"/>
              </a:ext>
            </a:extLst>
          </p:cNvPr>
          <p:cNvCxnSpPr>
            <a:cxnSpLocks/>
          </p:cNvCxnSpPr>
          <p:nvPr/>
        </p:nvCxnSpPr>
        <p:spPr>
          <a:xfrm flipV="1">
            <a:off x="3451889" y="486683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66E697A-36B0-CDD8-BCB0-316185CB0B9E}"/>
              </a:ext>
            </a:extLst>
          </p:cNvPr>
          <p:cNvSpPr/>
          <p:nvPr/>
        </p:nvSpPr>
        <p:spPr>
          <a:xfrm>
            <a:off x="4286367" y="3546674"/>
            <a:ext cx="946950" cy="1151060"/>
          </a:xfrm>
          <a:prstGeom prst="roundRect">
            <a:avLst/>
          </a:prstGeom>
          <a:solidFill>
            <a:srgbClr val="A0FEF3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F0B1A0E-F518-3E9B-CC70-72250C2447EE}"/>
              </a:ext>
            </a:extLst>
          </p:cNvPr>
          <p:cNvCxnSpPr/>
          <p:nvPr/>
        </p:nvCxnSpPr>
        <p:spPr>
          <a:xfrm>
            <a:off x="4417024" y="600701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6B8B84C-987C-34A8-75BF-B53779901FC3}"/>
              </a:ext>
            </a:extLst>
          </p:cNvPr>
          <p:cNvCxnSpPr>
            <a:cxnSpLocks/>
          </p:cNvCxnSpPr>
          <p:nvPr/>
        </p:nvCxnSpPr>
        <p:spPr>
          <a:xfrm>
            <a:off x="4414395" y="3844812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B784FEC-90A9-9281-013B-CEFEDD370BBC}"/>
              </a:ext>
            </a:extLst>
          </p:cNvPr>
          <p:cNvCxnSpPr>
            <a:cxnSpLocks/>
          </p:cNvCxnSpPr>
          <p:nvPr/>
        </p:nvCxnSpPr>
        <p:spPr>
          <a:xfrm>
            <a:off x="4426752" y="437770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2264846-85D1-9BAD-1B5E-ED2CECBD6B7E}"/>
              </a:ext>
            </a:extLst>
          </p:cNvPr>
          <p:cNvCxnSpPr>
            <a:cxnSpLocks/>
          </p:cNvCxnSpPr>
          <p:nvPr/>
        </p:nvCxnSpPr>
        <p:spPr>
          <a:xfrm flipV="1">
            <a:off x="4621891" y="365970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570568-1447-556E-DAE9-904C205A5182}"/>
              </a:ext>
            </a:extLst>
          </p:cNvPr>
          <p:cNvCxnSpPr>
            <a:cxnSpLocks/>
          </p:cNvCxnSpPr>
          <p:nvPr/>
        </p:nvCxnSpPr>
        <p:spPr>
          <a:xfrm flipV="1">
            <a:off x="4833830" y="365970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DA96DED-82E5-C0D1-5122-C698A5C4FCEE}"/>
              </a:ext>
            </a:extLst>
          </p:cNvPr>
          <p:cNvSpPr/>
          <p:nvPr/>
        </p:nvSpPr>
        <p:spPr>
          <a:xfrm>
            <a:off x="4287933" y="4710990"/>
            <a:ext cx="946950" cy="1610278"/>
          </a:xfrm>
          <a:prstGeom prst="roundRect">
            <a:avLst/>
          </a:prstGeom>
          <a:solidFill>
            <a:srgbClr val="ED8AFE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D8AFE"/>
              </a:solidFill>
              <a:latin typeface="Garamond" panose="02020404030301010803" pitchFamily="18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A4959E2-B583-5C10-F596-4B83D3BC5ABE}"/>
              </a:ext>
            </a:extLst>
          </p:cNvPr>
          <p:cNvCxnSpPr>
            <a:cxnSpLocks/>
          </p:cNvCxnSpPr>
          <p:nvPr/>
        </p:nvCxnSpPr>
        <p:spPr>
          <a:xfrm>
            <a:off x="4404667" y="5050354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8F2B760-E294-7898-9B12-9A6C15F069F4}"/>
              </a:ext>
            </a:extLst>
          </p:cNvPr>
          <p:cNvCxnSpPr>
            <a:cxnSpLocks/>
          </p:cNvCxnSpPr>
          <p:nvPr/>
        </p:nvCxnSpPr>
        <p:spPr>
          <a:xfrm>
            <a:off x="4424555" y="5533231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F2A7E3E-13D5-0C3B-AC2D-FF8CC911BAF6}"/>
              </a:ext>
            </a:extLst>
          </p:cNvPr>
          <p:cNvCxnSpPr>
            <a:cxnSpLocks/>
          </p:cNvCxnSpPr>
          <p:nvPr/>
        </p:nvCxnSpPr>
        <p:spPr>
          <a:xfrm flipV="1">
            <a:off x="4622323" y="535048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40F67E4-0C7E-AD06-CFD0-69BF10EDEC8A}"/>
              </a:ext>
            </a:extLst>
          </p:cNvPr>
          <p:cNvCxnSpPr>
            <a:cxnSpLocks/>
          </p:cNvCxnSpPr>
          <p:nvPr/>
        </p:nvCxnSpPr>
        <p:spPr>
          <a:xfrm flipV="1">
            <a:off x="4834262" y="5350483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5A097B8-E428-A3A6-E934-32ECB824E65D}"/>
              </a:ext>
            </a:extLst>
          </p:cNvPr>
          <p:cNvCxnSpPr>
            <a:cxnSpLocks/>
          </p:cNvCxnSpPr>
          <p:nvPr/>
        </p:nvCxnSpPr>
        <p:spPr>
          <a:xfrm flipV="1">
            <a:off x="4627403" y="583438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D61C2BC-CDBD-916A-EB04-F23269A1AEF3}"/>
              </a:ext>
            </a:extLst>
          </p:cNvPr>
          <p:cNvCxnSpPr>
            <a:cxnSpLocks/>
          </p:cNvCxnSpPr>
          <p:nvPr/>
        </p:nvCxnSpPr>
        <p:spPr>
          <a:xfrm flipV="1">
            <a:off x="4839342" y="5834380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1B7C4C25-6956-185B-992D-4BB5268FD92A}"/>
              </a:ext>
            </a:extLst>
          </p:cNvPr>
          <p:cNvSpPr/>
          <p:nvPr/>
        </p:nvSpPr>
        <p:spPr>
          <a:xfrm>
            <a:off x="4278369" y="1917618"/>
            <a:ext cx="946950" cy="1610278"/>
          </a:xfrm>
          <a:prstGeom prst="roundRect">
            <a:avLst/>
          </a:prstGeom>
          <a:solidFill>
            <a:srgbClr val="FFB3B3">
              <a:alpha val="4902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FA342A4-6458-C189-1DC8-5BEDFE8407A5}"/>
              </a:ext>
            </a:extLst>
          </p:cNvPr>
          <p:cNvCxnSpPr/>
          <p:nvPr/>
        </p:nvCxnSpPr>
        <p:spPr>
          <a:xfrm>
            <a:off x="4438019" y="2259663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652CAE-3B8B-675B-DC91-1438B878EB92}"/>
              </a:ext>
            </a:extLst>
          </p:cNvPr>
          <p:cNvCxnSpPr/>
          <p:nvPr/>
        </p:nvCxnSpPr>
        <p:spPr>
          <a:xfrm>
            <a:off x="4438019" y="2718250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F04D099-63E7-59CD-92F3-97354874E2A3}"/>
              </a:ext>
            </a:extLst>
          </p:cNvPr>
          <p:cNvCxnSpPr/>
          <p:nvPr/>
        </p:nvCxnSpPr>
        <p:spPr>
          <a:xfrm>
            <a:off x="4438019" y="3177408"/>
            <a:ext cx="688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874D24-B865-87B1-41F0-3525CFCC00B1}"/>
              </a:ext>
            </a:extLst>
          </p:cNvPr>
          <p:cNvCxnSpPr>
            <a:cxnSpLocks/>
          </p:cNvCxnSpPr>
          <p:nvPr/>
        </p:nvCxnSpPr>
        <p:spPr>
          <a:xfrm flipV="1">
            <a:off x="4611731" y="486683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A4D12FB-C032-5857-0E6D-BCD6CAEC3243}"/>
              </a:ext>
            </a:extLst>
          </p:cNvPr>
          <p:cNvCxnSpPr>
            <a:cxnSpLocks/>
          </p:cNvCxnSpPr>
          <p:nvPr/>
        </p:nvCxnSpPr>
        <p:spPr>
          <a:xfrm flipV="1">
            <a:off x="4823670" y="4866837"/>
            <a:ext cx="0" cy="341663"/>
          </a:xfrm>
          <a:prstGeom prst="straightConnector1">
            <a:avLst/>
          </a:prstGeom>
          <a:ln w="19050">
            <a:solidFill>
              <a:srgbClr val="1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C3E4533-13DA-71CC-12E0-4B36B6FD96A1}"/>
              </a:ext>
            </a:extLst>
          </p:cNvPr>
          <p:cNvSpPr txBox="1"/>
          <p:nvPr/>
        </p:nvSpPr>
        <p:spPr>
          <a:xfrm rot="16200000">
            <a:off x="708663" y="5316074"/>
            <a:ext cx="1051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D757FF"/>
                </a:solidFill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Inactive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0872A2-AF06-CF61-9148-88DE62A24200}"/>
              </a:ext>
            </a:extLst>
          </p:cNvPr>
          <p:cNvSpPr txBox="1"/>
          <p:nvPr/>
        </p:nvSpPr>
        <p:spPr>
          <a:xfrm rot="16200000">
            <a:off x="758475" y="2518194"/>
            <a:ext cx="934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EC8D7F"/>
                </a:solidFill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Virtual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F19635-AF68-CB5F-753F-1D3FA92FE408}"/>
              </a:ext>
            </a:extLst>
          </p:cNvPr>
          <p:cNvSpPr txBox="1"/>
          <p:nvPr/>
        </p:nvSpPr>
        <p:spPr>
          <a:xfrm>
            <a:off x="655874" y="1392858"/>
            <a:ext cx="5188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Complete Active Space Wave Function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6FC166-E6A4-351E-6E98-9EB2228E4E89}"/>
              </a:ext>
            </a:extLst>
          </p:cNvPr>
          <p:cNvSpPr txBox="1"/>
          <p:nvPr/>
        </p:nvSpPr>
        <p:spPr>
          <a:xfrm>
            <a:off x="6415412" y="1917618"/>
            <a:ext cx="502490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CASSCF:</a:t>
            </a:r>
            <a:endParaRPr lang="en-US" sz="2400" dirty="0">
              <a:latin typeface="Garamond" panose="020204040303010108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Recovers correlation internal but misses correlation external to active space</a:t>
            </a:r>
          </a:p>
          <a:p>
            <a:endParaRPr lang="en-US" sz="2400" dirty="0">
              <a:latin typeface="Garamond" panose="020204040303010108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Nontrivial choice of active space</a:t>
            </a:r>
          </a:p>
          <a:p>
            <a:pPr marL="342900" lvl="1" indent="0">
              <a:lnSpc>
                <a:spcPct val="100000"/>
              </a:lnSpc>
              <a:buNone/>
            </a:pPr>
            <a:endParaRPr lang="en-US" sz="2000" dirty="0">
              <a:latin typeface="Garamond" panose="020204040303010108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u="sng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Post CASSCF: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Aim to recover remaining external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Garamond" panose="020204040303010108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Garamond" panose="020204040303010108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8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DF0A-9343-5E90-B7B5-D7A1B7D7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6772-08F5-026F-13A3-7BEB18F2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462"/>
            <a:ext cx="10515600" cy="62733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Ab Initio Multiple Spawning (AIMS)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81AF72-DAD0-2D74-61B8-4454F651CF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669" y="1309504"/>
                <a:ext cx="8963313" cy="5151051"/>
              </a:xfrm>
            </p:spPr>
            <p:txBody>
              <a:bodyPr>
                <a:noAutofit/>
              </a:bodyPr>
              <a:lstStyle/>
              <a:p>
                <a:r>
                  <a:rPr lang="en-US" sz="2300" dirty="0"/>
                  <a:t>AIMS represents the wave function as a sum over states of the product of the time-dependent nuclear wave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300" dirty="0"/>
                  <a:t>and time-independent electronic wave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300" dirty="0"/>
              </a:p>
              <a:p>
                <a:pPr marL="0" indent="0">
                  <a:buNone/>
                </a:pPr>
                <a:endParaRPr lang="en-US" sz="2300" dirty="0"/>
              </a:p>
              <a:p>
                <a:r>
                  <a:rPr lang="en-US" sz="2300" dirty="0"/>
                  <a:t>The nuclear wave function is a linear combo of frozen Gaussian basis functions (trajectory basis function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p>
                    </m:sSub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3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</m:acc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p>
                    </m:sSubSup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p>
                    </m:sSubSup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p>
                    </m:sSub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  <m:e>
                          <m:sSubSup>
                            <m:sSubSup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sSubSup>
                        <m:sSubSup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p>
                      </m:sSubSup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3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Sup>
                        <m:sSubSupPr>
                          <m:ctrlPr>
                            <a:rPr lang="en-US" sz="23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23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</m:acc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p>
                      </m:sSubSup>
                      <m:d>
                        <m:d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23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p>
                      </m:sSubSup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3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3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p>
                      </m:sSubSup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300" dirty="0"/>
              </a:p>
              <a:p>
                <a:pPr marL="0" indent="0" algn="ctr">
                  <a:buNone/>
                </a:pPr>
                <a:endParaRPr lang="en-US" sz="2300" dirty="0"/>
              </a:p>
              <a:p>
                <a:r>
                  <a:rPr lang="en-US" sz="2300" dirty="0"/>
                  <a:t>When a trajectory basis function is in a region of strong coupling a new trajectory basis function is spawned onto the coupled electronic state</a:t>
                </a:r>
              </a:p>
              <a:p>
                <a:endParaRPr lang="en-US" sz="2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81AF72-DAD0-2D74-61B8-4454F651C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669" y="1309504"/>
                <a:ext cx="8963313" cy="5151051"/>
              </a:xfrm>
              <a:blipFill>
                <a:blip r:embed="rId2"/>
                <a:stretch>
                  <a:fillRect l="-850" t="-7143" r="-425" b="-10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BA20BDC-599E-03D4-DCF3-13ECBD135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502" y="2367144"/>
            <a:ext cx="2917900" cy="229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4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17E4D6-DC6E-78A3-1DE4-D928B5B24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086" t="22743" r="19556" b="20312"/>
          <a:stretch>
            <a:fillRect/>
          </a:stretch>
        </p:blipFill>
        <p:spPr>
          <a:xfrm>
            <a:off x="601047" y="3842793"/>
            <a:ext cx="2817878" cy="2369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BB3BE1-9590-E717-B0AA-90B507A5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30" t="24128" r="22296" b="21803"/>
          <a:stretch>
            <a:fillRect/>
          </a:stretch>
        </p:blipFill>
        <p:spPr>
          <a:xfrm>
            <a:off x="505172" y="961657"/>
            <a:ext cx="3009627" cy="2532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436F2C-277D-FCEA-8C01-CE07FFC842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79" t="23929" r="20144" b="23214"/>
          <a:stretch>
            <a:fillRect/>
          </a:stretch>
        </p:blipFill>
        <p:spPr>
          <a:xfrm>
            <a:off x="3864345" y="961657"/>
            <a:ext cx="3074478" cy="23699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CDE362-EB8D-D612-1E1D-1F86C60AE2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44" t="21834" r="17629" b="21743"/>
          <a:stretch>
            <a:fillRect/>
          </a:stretch>
        </p:blipFill>
        <p:spPr>
          <a:xfrm>
            <a:off x="3817192" y="3734365"/>
            <a:ext cx="3094646" cy="2369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0F50AA-3C62-A3BF-5817-2E150535F9AC}"/>
              </a:ext>
            </a:extLst>
          </p:cNvPr>
          <p:cNvSpPr txBox="1"/>
          <p:nvPr/>
        </p:nvSpPr>
        <p:spPr>
          <a:xfrm>
            <a:off x="6466418" y="2771505"/>
            <a:ext cx="89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(n)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EB524-F10C-EF83-361A-C2A6FEA0DD6A}"/>
              </a:ext>
            </a:extLst>
          </p:cNvPr>
          <p:cNvSpPr txBox="1"/>
          <p:nvPr/>
        </p:nvSpPr>
        <p:spPr>
          <a:xfrm>
            <a:off x="2973505" y="2746791"/>
            <a:ext cx="89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CE7D2C-70FB-067C-3657-5859E34F26B8}"/>
                  </a:ext>
                </a:extLst>
              </p:cNvPr>
              <p:cNvSpPr txBox="1"/>
              <p:nvPr/>
            </p:nvSpPr>
            <p:spPr>
              <a:xfrm>
                <a:off x="2904989" y="5597797"/>
                <a:ext cx="8679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Garamond" panose="02020404030301010803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>
                    <a:latin typeface="Garamond" panose="02020404030301010803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CE7D2C-70FB-067C-3657-5859E34F2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989" y="5597797"/>
                <a:ext cx="867974" cy="584775"/>
              </a:xfrm>
              <a:prstGeom prst="rect">
                <a:avLst/>
              </a:prstGeom>
              <a:blipFill>
                <a:blip r:embed="rId6"/>
                <a:stretch>
                  <a:fillRect l="-17143" t="-10638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BA1475-85FD-444D-A593-DAD39531EA86}"/>
                  </a:ext>
                </a:extLst>
              </p:cNvPr>
              <p:cNvSpPr txBox="1"/>
              <p:nvPr/>
            </p:nvSpPr>
            <p:spPr>
              <a:xfrm>
                <a:off x="6365606" y="5519499"/>
                <a:ext cx="10924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Garamond" panose="02020404030301010803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>
                    <a:latin typeface="Garamond" panose="02020404030301010803" pitchFamily="18" charset="0"/>
                  </a:rPr>
                  <a:t>*)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BA1475-85FD-444D-A593-DAD39531E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606" y="5519499"/>
                <a:ext cx="1092464" cy="584775"/>
              </a:xfrm>
              <a:prstGeom prst="rect">
                <a:avLst/>
              </a:prstGeom>
              <a:blipFill>
                <a:blip r:embed="rId7"/>
                <a:stretch>
                  <a:fillRect l="-13793" t="-10638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itle 1">
            <a:extLst>
              <a:ext uri="{FF2B5EF4-FFF2-40B4-BE49-F238E27FC236}">
                <a16:creationId xmlns:a16="http://schemas.microsoft.com/office/drawing/2014/main" id="{72085A54-ACD3-34AE-5C5A-74E4ACD9770B}"/>
              </a:ext>
            </a:extLst>
          </p:cNvPr>
          <p:cNvSpPr txBox="1">
            <a:spLocks/>
          </p:cNvSpPr>
          <p:nvPr/>
        </p:nvSpPr>
        <p:spPr>
          <a:xfrm>
            <a:off x="387536" y="1451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Active Space: SA(4)-CASSCF(6e,4o)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EFF9DB-8F10-5DE9-F830-229873CBDBA0}"/>
                  </a:ext>
                </a:extLst>
              </p:cNvPr>
              <p:cNvSpPr txBox="1"/>
              <p:nvPr/>
            </p:nvSpPr>
            <p:spPr>
              <a:xfrm>
                <a:off x="8056637" y="2146611"/>
                <a:ext cx="328812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Garamond" panose="02020404030301010803" pitchFamily="18" charset="0"/>
                  </a:rPr>
                  <a:t>4 orbitals directly involved in the n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latin typeface="Garamond" panose="02020404030301010803" pitchFamily="18" charset="0"/>
                    <a:sym typeface="Wingdings" pitchFamily="2" charset="2"/>
                  </a:rPr>
                  <a:t> </a:t>
                </a:r>
                <a:r>
                  <a:rPr lang="en-US" sz="2800" dirty="0" err="1">
                    <a:latin typeface="Garamond" panose="02020404030301010803" pitchFamily="18" charset="0"/>
                  </a:rPr>
                  <a:t>σ</a:t>
                </a:r>
                <a:r>
                  <a:rPr lang="en-US" sz="2800" dirty="0">
                    <a:latin typeface="Garamond" panose="02020404030301010803" pitchFamily="18" charset="0"/>
                  </a:rPr>
                  <a:t>* transition that drives the S1←S0 excitation and the O–O homolysis</a:t>
                </a:r>
                <a:r>
                  <a:rPr lang="en-US" sz="2800" baseline="30000" dirty="0">
                    <a:latin typeface="Garamond" panose="02020404030301010803" pitchFamily="18" charset="0"/>
                  </a:rPr>
                  <a:t>1</a:t>
                </a:r>
                <a:endParaRPr lang="en-US" sz="28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EFF9DB-8F10-5DE9-F830-229873CB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637" y="2146611"/>
                <a:ext cx="3288121" cy="2677656"/>
              </a:xfrm>
              <a:prstGeom prst="rect">
                <a:avLst/>
              </a:prstGeom>
              <a:blipFill>
                <a:blip r:embed="rId8"/>
                <a:stretch>
                  <a:fillRect l="-3846" t="-2358" r="-6538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6A2B6CA-9523-86B9-046F-1D1C0D2703D3}"/>
              </a:ext>
            </a:extLst>
          </p:cNvPr>
          <p:cNvSpPr txBox="1"/>
          <p:nvPr/>
        </p:nvSpPr>
        <p:spPr>
          <a:xfrm>
            <a:off x="7204108" y="6440124"/>
            <a:ext cx="582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aseline="30000" dirty="0">
                <a:latin typeface="Garamond" panose="02020404030301010803" pitchFamily="18" charset="0"/>
              </a:rPr>
              <a:t>1</a:t>
            </a:r>
            <a:r>
              <a:rPr lang="en-US" sz="1600" dirty="0">
                <a:latin typeface="Garamond" panose="02020404030301010803" pitchFamily="18" charset="0"/>
              </a:rPr>
              <a:t>Zou, M. et al.,  J. Phys. Chem. A 2025, 129 (13), 3052−3062</a:t>
            </a:r>
          </a:p>
        </p:txBody>
      </p:sp>
    </p:spTree>
    <p:extLst>
      <p:ext uri="{BB962C8B-B14F-4D97-AF65-F5344CB8AC3E}">
        <p14:creationId xmlns:p14="http://schemas.microsoft.com/office/powerpoint/2010/main" val="30614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8C1E-49C1-334B-8757-C91EC68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Energy Surface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D0D42-F5FB-51E0-584D-7DB978A353C1}"/>
              </a:ext>
            </a:extLst>
          </p:cNvPr>
          <p:cNvSpPr txBox="1"/>
          <p:nvPr/>
        </p:nvSpPr>
        <p:spPr>
          <a:xfrm>
            <a:off x="7572540" y="1193727"/>
            <a:ext cx="43836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</a:t>
            </a:r>
            <a:r>
              <a:rPr lang="en-US" sz="2000" baseline="-25000" dirty="0">
                <a:latin typeface="Garamond" panose="02020404030301010803" pitchFamily="18" charset="0"/>
              </a:rPr>
              <a:t>1</a:t>
            </a:r>
            <a:r>
              <a:rPr lang="en-US" sz="2000" dirty="0">
                <a:latin typeface="Garamond" panose="02020404030301010803" pitchFamily="18" charset="0"/>
              </a:rPr>
              <a:t> is steep and repulsive indicative of rapid dissociation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</a:t>
            </a:r>
            <a:r>
              <a:rPr lang="en-US" sz="2000" baseline="-25000" dirty="0">
                <a:latin typeface="Garamond" panose="02020404030301010803" pitchFamily="18" charset="0"/>
              </a:rPr>
              <a:t>1  </a:t>
            </a:r>
            <a:r>
              <a:rPr lang="en-US" sz="2000" dirty="0">
                <a:latin typeface="Garamond" panose="02020404030301010803" pitchFamily="18" charset="0"/>
              </a:rPr>
              <a:t>becomes degenerate with S</a:t>
            </a:r>
            <a:r>
              <a:rPr lang="en-US" sz="2000" baseline="-25000" dirty="0">
                <a:latin typeface="Garamond" panose="02020404030301010803" pitchFamily="18" charset="0"/>
              </a:rPr>
              <a:t>0</a:t>
            </a:r>
            <a:r>
              <a:rPr lang="en-US" sz="2000" dirty="0">
                <a:latin typeface="Garamond" panose="02020404030301010803" pitchFamily="18" charset="0"/>
              </a:rPr>
              <a:t> at large O-O distances</a:t>
            </a:r>
          </a:p>
          <a:p>
            <a:endParaRPr lang="en-US" sz="2000" dirty="0">
              <a:latin typeface="Garamond" panose="020204040303010108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Relaxed curves(with respect to S</a:t>
            </a:r>
            <a:r>
              <a:rPr lang="en-US" sz="2000" baseline="-25000" dirty="0">
                <a:latin typeface="Garamond" panose="02020404030301010803" pitchFamily="18" charset="0"/>
              </a:rPr>
              <a:t>1</a:t>
            </a:r>
            <a:r>
              <a:rPr lang="en-US" sz="2000" dirty="0">
                <a:latin typeface="Garamond" panose="02020404030301010803" pitchFamily="18" charset="0"/>
              </a:rPr>
              <a:t>) were computed at SA(4)-CASSCF(6e,4o) level of theory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SA(4) since S</a:t>
            </a:r>
            <a:r>
              <a:rPr lang="en-US" sz="2000" baseline="-25000" dirty="0">
                <a:latin typeface="Garamond" panose="02020404030301010803" pitchFamily="18" charset="0"/>
              </a:rPr>
              <a:t>2</a:t>
            </a:r>
            <a:r>
              <a:rPr lang="en-US" sz="2000" dirty="0">
                <a:latin typeface="Garamond" panose="02020404030301010803" pitchFamily="18" charset="0"/>
              </a:rPr>
              <a:t> and S</a:t>
            </a:r>
            <a:r>
              <a:rPr lang="en-US" sz="2000" baseline="-25000" dirty="0">
                <a:latin typeface="Garamond" panose="02020404030301010803" pitchFamily="18" charset="0"/>
              </a:rPr>
              <a:t>3</a:t>
            </a:r>
            <a:r>
              <a:rPr lang="en-US" sz="2000" dirty="0">
                <a:latin typeface="Garamond" panose="02020404030301010803" pitchFamily="18" charset="0"/>
              </a:rPr>
              <a:t> lie close in energy to S</a:t>
            </a:r>
            <a:r>
              <a:rPr lang="en-US" sz="2000" baseline="-25000" dirty="0">
                <a:latin typeface="Garamond" panose="02020404030301010803" pitchFamily="18" charset="0"/>
              </a:rPr>
              <a:t>0</a:t>
            </a:r>
            <a:r>
              <a:rPr lang="en-US" sz="2000" dirty="0">
                <a:latin typeface="Garamond" panose="02020404030301010803" pitchFamily="18" charset="0"/>
              </a:rPr>
              <a:t> and S</a:t>
            </a:r>
            <a:r>
              <a:rPr lang="en-US" sz="2000" baseline="-25000" dirty="0">
                <a:latin typeface="Garamond" panose="02020404030301010803" pitchFamily="18" charset="0"/>
              </a:rPr>
              <a:t>1</a:t>
            </a:r>
            <a:r>
              <a:rPr lang="en-US" sz="2000" dirty="0">
                <a:latin typeface="Garamond" panose="02020404030301010803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Inclusion of more states helps stabilize and balance along the bond-breaking coordinate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9DAC4-37FA-8C67-B5D3-A230B4ECD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86" y="1690688"/>
            <a:ext cx="7198684" cy="44690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AD66EF-DD1A-AC98-CDB9-4EA966700118}"/>
              </a:ext>
            </a:extLst>
          </p:cNvPr>
          <p:cNvSpPr txBox="1"/>
          <p:nvPr/>
        </p:nvSpPr>
        <p:spPr>
          <a:xfrm>
            <a:off x="0" y="6487484"/>
            <a:ext cx="4201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Garamond" panose="02020404030301010803" pitchFamily="18" charset="0"/>
              </a:rPr>
              <a:t>Zero of energy is taken relative to the S</a:t>
            </a:r>
            <a:r>
              <a:rPr lang="en-US" sz="1600" baseline="-25000" dirty="0">
                <a:solidFill>
                  <a:schemeClr val="bg2">
                    <a:lumMod val="75000"/>
                  </a:schemeClr>
                </a:solidFill>
                <a:latin typeface="Garamond" panose="02020404030301010803" pitchFamily="18" charset="0"/>
              </a:rPr>
              <a:t>0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Garamond" panose="02020404030301010803" pitchFamily="18" charset="0"/>
              </a:rPr>
              <a:t>minimum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12F8417C-242F-E7A2-5DE5-AD9EDE5A7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7765" t="7682" r="10188"/>
          <a:stretch>
            <a:fillRect/>
          </a:stretch>
        </p:blipFill>
        <p:spPr>
          <a:xfrm rot="2937323">
            <a:off x="4489937" y="2375089"/>
            <a:ext cx="2409959" cy="227378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84459C-1E19-61EC-C85C-1905A2E28731}"/>
              </a:ext>
            </a:extLst>
          </p:cNvPr>
          <p:cNvCxnSpPr>
            <a:cxnSpLocks/>
          </p:cNvCxnSpPr>
          <p:nvPr/>
        </p:nvCxnSpPr>
        <p:spPr>
          <a:xfrm flipV="1">
            <a:off x="4757751" y="2750968"/>
            <a:ext cx="713512" cy="298306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75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EF63-2E8A-E616-2EA4-B51BC9AE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2441"/>
          </a:xfrm>
        </p:spPr>
        <p:txBody>
          <a:bodyPr/>
          <a:lstStyle/>
          <a:p>
            <a:r>
              <a:rPr lang="en-US" dirty="0"/>
              <a:t>Dynamics Set Up and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D473-22FE-D936-AE2A-D5BE8AF5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46" y="1417566"/>
            <a:ext cx="5965354" cy="5305206"/>
          </a:xfrm>
        </p:spPr>
        <p:txBody>
          <a:bodyPr>
            <a:noAutofit/>
          </a:bodyPr>
          <a:lstStyle/>
          <a:p>
            <a:r>
              <a:rPr lang="en-US" sz="2000" dirty="0"/>
              <a:t>Hessian/frequency calculation on S</a:t>
            </a:r>
            <a:r>
              <a:rPr lang="en-US" sz="2000" baseline="-25000" dirty="0"/>
              <a:t>0 </a:t>
            </a:r>
            <a:r>
              <a:rPr lang="en-US" sz="2000" dirty="0"/>
              <a:t>equilibrium geometry for preparing initial conditions from Wigner distribution</a:t>
            </a:r>
          </a:p>
          <a:p>
            <a:r>
              <a:rPr lang="en-US" sz="2000" dirty="0"/>
              <a:t>Generated initial conditions through random seed that sets Wigner-sampled momenta and positions</a:t>
            </a:r>
          </a:p>
          <a:p>
            <a:r>
              <a:rPr lang="en-US" sz="2000" dirty="0"/>
              <a:t>Propagate SA(4)-CASSCF AIMS dynamics initialized on S</a:t>
            </a:r>
            <a:r>
              <a:rPr lang="en-US" sz="2000" baseline="-25000" dirty="0"/>
              <a:t>1  </a:t>
            </a:r>
            <a:r>
              <a:rPr lang="en-US" sz="2000" dirty="0"/>
              <a:t>(</a:t>
            </a:r>
            <a:r>
              <a:rPr lang="en-US" sz="2000" dirty="0" err="1"/>
              <a:t>ts</a:t>
            </a:r>
            <a:r>
              <a:rPr lang="en-US" sz="2000" dirty="0"/>
              <a:t> = 0.5 fs, timescale = 750 fs)</a:t>
            </a:r>
          </a:p>
          <a:p>
            <a:pPr lvl="1"/>
            <a:endParaRPr lang="en-US" sz="2000" dirty="0"/>
          </a:p>
          <a:p>
            <a:r>
              <a:rPr lang="en-US" sz="2000" dirty="0"/>
              <a:t>Analysis for trajectories</a:t>
            </a:r>
          </a:p>
          <a:p>
            <a:pPr lvl="1"/>
            <a:r>
              <a:rPr lang="en-US" sz="2000" dirty="0"/>
              <a:t>Defined a RO-OH bond cleavage threshold of 2.6 Å:  operational choice of ~1 Å above equilibrium geometry RO-OH bond length (1.4-1.6 Å)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2.6 Å is beyond the steep portion of repulsive S</a:t>
            </a:r>
            <a:r>
              <a:rPr lang="en-US" sz="2000" baseline="-25000" dirty="0"/>
              <a:t>1</a:t>
            </a:r>
            <a:r>
              <a:rPr lang="en-US" sz="2000" dirty="0"/>
              <a:t> curve and beginning of state degeneracy of S</a:t>
            </a:r>
            <a:r>
              <a:rPr lang="en-US" sz="2000" baseline="-25000" dirty="0"/>
              <a:t>1</a:t>
            </a:r>
            <a:r>
              <a:rPr lang="en-US" sz="2000" dirty="0"/>
              <a:t>/S</a:t>
            </a:r>
            <a:r>
              <a:rPr lang="en-US" sz="2000" baseline="-25000" dirty="0"/>
              <a:t>0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BAB35-1F11-9BC6-8787-E3E7E44CF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777" y="2311535"/>
            <a:ext cx="5204250" cy="323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1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383C-A33E-1A1D-1460-8CA2E372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2113-AAC3-AFA3-CA1B-8EB655C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714"/>
            <a:ext cx="10515600" cy="676466"/>
          </a:xfrm>
        </p:spPr>
        <p:txBody>
          <a:bodyPr>
            <a:normAutofit fontScale="90000"/>
          </a:bodyPr>
          <a:lstStyle/>
          <a:p>
            <a:r>
              <a:rPr lang="en-US" dirty="0"/>
              <a:t>Time evolution of RO-OH bond distance  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DFE647-7504-6CB9-D440-D562C8DCB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62035" y="1155368"/>
            <a:ext cx="4994746" cy="3735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04E30A-7E83-DC38-D448-136EE011F392}"/>
                  </a:ext>
                </a:extLst>
              </p:cNvPr>
              <p:cNvSpPr txBox="1"/>
              <p:nvPr/>
            </p:nvSpPr>
            <p:spPr>
              <a:xfrm>
                <a:off x="1079230" y="5151605"/>
                <a:ext cx="10515600" cy="1332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Garamond" panose="02020404030301010803" pitchFamily="18" charset="0"/>
                  </a:rPr>
                  <a:t>All 50 trajectories have continuous RO–OH bond elongation from FC region (1.4-1.6 </a:t>
                </a:r>
                <a14:m>
                  <m:oMath xmlns:m="http://schemas.openxmlformats.org/officeDocument/2006/math">
                    <m:r>
                      <a:rPr lang="en-US" sz="26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Å</m:t>
                    </m:r>
                  </m:oMath>
                </a14:m>
                <a:r>
                  <a:rPr lang="en-US" sz="2600" dirty="0">
                    <a:latin typeface="Garamond" panose="02020404030301010803" pitchFamily="18" charset="0"/>
                  </a:rPr>
                  <a:t>) reaching 2.5–3.0 </a:t>
                </a:r>
                <a14:m>
                  <m:oMath xmlns:m="http://schemas.openxmlformats.org/officeDocument/2006/math">
                    <m:r>
                      <a:rPr lang="en-US" sz="26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Å</m:t>
                    </m:r>
                  </m:oMath>
                </a14:m>
                <a:r>
                  <a:rPr lang="en-US" sz="2600" dirty="0">
                    <a:latin typeface="Garamond" panose="02020404030301010803" pitchFamily="18" charset="0"/>
                  </a:rPr>
                  <a:t> by 750 fs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Garamond" panose="02020404030301010803" pitchFamily="18" charset="0"/>
                  </a:rPr>
                  <a:t>Indicative of the dissociation process on a repulsive S</a:t>
                </a:r>
                <a:r>
                  <a:rPr lang="en-US" sz="2600" baseline="-25000" dirty="0">
                    <a:latin typeface="Garamond" panose="02020404030301010803" pitchFamily="18" charset="0"/>
                  </a:rPr>
                  <a:t>1</a:t>
                </a:r>
                <a:r>
                  <a:rPr lang="en-US" sz="2600" dirty="0">
                    <a:latin typeface="Garamond" panose="02020404030301010803" pitchFamily="18" charset="0"/>
                  </a:rPr>
                  <a:t> surface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04E30A-7E83-DC38-D448-136EE011F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30" y="5151605"/>
                <a:ext cx="10515600" cy="1332544"/>
              </a:xfrm>
              <a:prstGeom prst="rect">
                <a:avLst/>
              </a:prstGeom>
              <a:blipFill>
                <a:blip r:embed="rId5"/>
                <a:stretch>
                  <a:fillRect l="-844" t="-3774" r="-603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Traj22_TBHP.mpg">
            <a:hlinkClick r:id="" action="ppaction://media"/>
            <a:extLst>
              <a:ext uri="{FF2B5EF4-FFF2-40B4-BE49-F238E27FC236}">
                <a16:creationId xmlns:a16="http://schemas.microsoft.com/office/drawing/2014/main" id="{80232490-3DA0-03DC-52D4-0C926629CC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23819" t="21773" r="3229" b="21945"/>
          <a:stretch>
            <a:fillRect/>
          </a:stretch>
        </p:blipFill>
        <p:spPr>
          <a:xfrm>
            <a:off x="7033051" y="1508047"/>
            <a:ext cx="3927092" cy="302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6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49C7-BDFE-509A-A552-8498AA55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2CCF-71C8-2360-0912-9CA34BECA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621"/>
            <a:ext cx="10515600" cy="743828"/>
          </a:xfrm>
        </p:spPr>
        <p:txBody>
          <a:bodyPr/>
          <a:lstStyle/>
          <a:p>
            <a:r>
              <a:rPr lang="en-US" dirty="0"/>
              <a:t>Dynamics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521068-1A94-23E6-0A3E-B3A61F716739}"/>
                  </a:ext>
                </a:extLst>
              </p:cNvPr>
              <p:cNvSpPr txBox="1"/>
              <p:nvPr/>
            </p:nvSpPr>
            <p:spPr>
              <a:xfrm>
                <a:off x="1598409" y="5131043"/>
                <a:ext cx="951729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Garamond" panose="02020404030301010803" pitchFamily="18" charset="0"/>
                  </a:rPr>
                  <a:t>Time when each trajectory crosses r(O-O) = 2.6 Å is marked with a dot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Garamond" panose="02020404030301010803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2000" dirty="0">
                    <a:latin typeface="Garamond" panose="02020404030301010803" pitchFamily="18" charset="0"/>
                  </a:rPr>
                  <a:t>E is large initially and decreases as the RO–OH bond stretches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>
                  <a:latin typeface="Garamond" panose="02020404030301010803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Garamond" panose="02020404030301010803" pitchFamily="18" charset="0"/>
                  </a:rPr>
                  <a:t>Reflects behavior seen in the PES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521068-1A94-23E6-0A3E-B3A61F716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409" y="5131043"/>
                <a:ext cx="9517298" cy="1938992"/>
              </a:xfrm>
              <a:prstGeom prst="rect">
                <a:avLst/>
              </a:prstGeom>
              <a:blipFill>
                <a:blip r:embed="rId2"/>
                <a:stretch>
                  <a:fillRect l="-53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5F364951-1866-FAFB-3BCC-FBF5631A9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512" y="1533764"/>
            <a:ext cx="4168195" cy="25876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624A6D-E394-5680-2C85-1558B03A1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64439"/>
            <a:ext cx="5114519" cy="382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7751-ECAE-6763-627F-DAB82368B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1229"/>
          </a:xfrm>
        </p:spPr>
        <p:txBody>
          <a:bodyPr/>
          <a:lstStyle/>
          <a:p>
            <a:r>
              <a:rPr lang="en-US" dirty="0"/>
              <a:t>Interpretation and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1456-9F6D-3BD8-2840-F5ABC7B9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5" y="1634627"/>
            <a:ext cx="11006253" cy="47606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50 trajectories initiated on S</a:t>
            </a:r>
            <a:r>
              <a:rPr lang="en-US" baseline="-25000" dirty="0"/>
              <a:t>1</a:t>
            </a:r>
            <a:r>
              <a:rPr lang="en-US" dirty="0"/>
              <a:t> remained on S</a:t>
            </a:r>
            <a:r>
              <a:rPr lang="en-US" baseline="-25000" dirty="0"/>
              <a:t>1 </a:t>
            </a:r>
            <a:r>
              <a:rPr lang="en-US" dirty="0"/>
              <a:t>during the 750 fs simulation, no observed spawns to S</a:t>
            </a:r>
            <a:r>
              <a:rPr lang="en-US" baseline="-25000" dirty="0"/>
              <a:t>0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Could indicate that RO-OH bond dissociation occurs on S</a:t>
            </a:r>
            <a:r>
              <a:rPr lang="en-US" baseline="-25000" dirty="0"/>
              <a:t>1</a:t>
            </a:r>
            <a:r>
              <a:rPr lang="en-US" dirty="0"/>
              <a:t> curve rather than through internal conversion and strong coupling to the S</a:t>
            </a:r>
            <a:r>
              <a:rPr lang="en-US" baseline="-25000" dirty="0"/>
              <a:t>0</a:t>
            </a:r>
            <a:r>
              <a:rPr lang="en-US" dirty="0"/>
              <a:t> along O-O stretching coordinate</a:t>
            </a:r>
          </a:p>
          <a:p>
            <a:endParaRPr lang="en-US" dirty="0"/>
          </a:p>
          <a:p>
            <a:r>
              <a:rPr lang="en-US" dirty="0"/>
              <a:t>For AIMS, spawning is dependent on the nonadiabatic coupling vector rather than just the electronic state energy gap</a:t>
            </a:r>
          </a:p>
          <a:p>
            <a:pPr lvl="1"/>
            <a:r>
              <a:rPr lang="en-US" dirty="0"/>
              <a:t>Near degeneracy shown in the PES may not guarantee spawning onto different electronic states. </a:t>
            </a:r>
          </a:p>
        </p:txBody>
      </p:sp>
    </p:spTree>
    <p:extLst>
      <p:ext uri="{BB962C8B-B14F-4D97-AF65-F5344CB8AC3E}">
        <p14:creationId xmlns:p14="http://schemas.microsoft.com/office/powerpoint/2010/main" val="365589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0C7-3A73-FAF5-7727-2389592E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224"/>
          </a:xfrm>
        </p:spPr>
        <p:txBody>
          <a:bodyPr/>
          <a:lstStyle/>
          <a:p>
            <a:r>
              <a:rPr lang="en-US" dirty="0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B3EC-1B9E-B6E3-DEFB-B85EF9C7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45" y="1329509"/>
            <a:ext cx="10899857" cy="4797614"/>
          </a:xfrm>
        </p:spPr>
        <p:txBody>
          <a:bodyPr>
            <a:normAutofit/>
          </a:bodyPr>
          <a:lstStyle/>
          <a:p>
            <a:r>
              <a:rPr lang="en-US" sz="2400" dirty="0"/>
              <a:t>AIMS dynamics with SA-CASSCF with 50 trajectories show direct dissociation on S1 surface as the dominant mechanistic pathway along O-O stretching coordinate.</a:t>
            </a:r>
          </a:p>
          <a:p>
            <a:endParaRPr lang="en-US" sz="2400" dirty="0"/>
          </a:p>
          <a:p>
            <a:r>
              <a:rPr lang="en-US" sz="2400" dirty="0"/>
              <a:t>Current work could indicate  predominant sampling from O-O stretching coordinates.</a:t>
            </a:r>
          </a:p>
          <a:p>
            <a:pPr lvl="1"/>
            <a:r>
              <a:rPr lang="en-US" sz="2000" dirty="0"/>
              <a:t>Extended sampling from torsional or O-O-H bending coordinates could provide different results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Additional organic hydroperoxides: cyclohexyl and cyclopentyl</a:t>
            </a:r>
          </a:p>
          <a:p>
            <a:r>
              <a:rPr lang="en-US" sz="2400" dirty="0"/>
              <a:t>Running dynamics with more initial conditions</a:t>
            </a:r>
          </a:p>
          <a:p>
            <a:r>
              <a:rPr lang="en-US" sz="2400" dirty="0"/>
              <a:t>Higher level of theory for dynamics: CASPT2, PDFT,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01C75-3C36-59A6-53B6-BD06A56AA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8" t="5590" r="14557" b="16483"/>
          <a:stretch>
            <a:fillRect/>
          </a:stretch>
        </p:blipFill>
        <p:spPr>
          <a:xfrm rot="20783177">
            <a:off x="6976251" y="4943869"/>
            <a:ext cx="1792212" cy="1540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0F6055-CF4F-C471-129A-AC3CC3313218}"/>
              </a:ext>
            </a:extLst>
          </p:cNvPr>
          <p:cNvSpPr txBox="1"/>
          <p:nvPr/>
        </p:nvSpPr>
        <p:spPr>
          <a:xfrm>
            <a:off x="6315230" y="6349403"/>
            <a:ext cx="3674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aramond" panose="02020404030301010803" pitchFamily="18" charset="0"/>
              </a:rPr>
              <a:t>cyclopentyl hydroperoxide (CPHP)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AA689B-370E-068E-ABCA-6CFCD76E3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748" y="5019359"/>
            <a:ext cx="2021480" cy="1694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850F4-8F66-7DDB-24E8-E0DEC8321C2C}"/>
              </a:ext>
            </a:extLst>
          </p:cNvPr>
          <p:cNvSpPr txBox="1"/>
          <p:nvPr/>
        </p:nvSpPr>
        <p:spPr>
          <a:xfrm>
            <a:off x="2036542" y="6349404"/>
            <a:ext cx="3584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aramond" panose="02020404030301010803" pitchFamily="18" charset="0"/>
              </a:rPr>
              <a:t>cyclohexyl hydroperoxide (CPHP)</a:t>
            </a:r>
          </a:p>
        </p:txBody>
      </p:sp>
    </p:spTree>
    <p:extLst>
      <p:ext uri="{BB962C8B-B14F-4D97-AF65-F5344CB8AC3E}">
        <p14:creationId xmlns:p14="http://schemas.microsoft.com/office/powerpoint/2010/main" val="3759189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7374-CEB7-0E8A-11ED-01554EB1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966676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D61CA0-7CD5-10C0-B33B-917D62E8ABA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Potential Energy Surface – SA(4)CASSCF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B813E-799A-3914-F2E1-41FF3E6C6890}"/>
              </a:ext>
            </a:extLst>
          </p:cNvPr>
          <p:cNvSpPr txBox="1"/>
          <p:nvPr/>
        </p:nvSpPr>
        <p:spPr>
          <a:xfrm>
            <a:off x="0" y="6487484"/>
            <a:ext cx="4201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Garamond" panose="02020404030301010803" pitchFamily="18" charset="0"/>
              </a:rPr>
              <a:t>Zero of energy is taken relative to the S</a:t>
            </a:r>
            <a:r>
              <a:rPr lang="en-US" sz="1600" baseline="-25000" dirty="0">
                <a:solidFill>
                  <a:schemeClr val="bg2">
                    <a:lumMod val="75000"/>
                  </a:schemeClr>
                </a:solidFill>
                <a:latin typeface="Garamond" panose="02020404030301010803" pitchFamily="18" charset="0"/>
              </a:rPr>
              <a:t>0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Garamond" panose="02020404030301010803" pitchFamily="18" charset="0"/>
              </a:rPr>
              <a:t>minimum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5414CB5-8CB4-8F72-20F2-FBACC4D97B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355358"/>
              </p:ext>
            </p:extLst>
          </p:nvPr>
        </p:nvGraphicFramePr>
        <p:xfrm>
          <a:off x="1297577" y="1591391"/>
          <a:ext cx="9191012" cy="4762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D0556859-E767-3A8E-282F-D57B958D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5" t="7682" r="10188"/>
          <a:stretch>
            <a:fillRect/>
          </a:stretch>
        </p:blipFill>
        <p:spPr>
          <a:xfrm rot="2937323">
            <a:off x="8968002" y="2634670"/>
            <a:ext cx="2409959" cy="227378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C7B5FE-83A7-8776-0DD4-138BDE373C3E}"/>
              </a:ext>
            </a:extLst>
          </p:cNvPr>
          <p:cNvCxnSpPr>
            <a:cxnSpLocks/>
          </p:cNvCxnSpPr>
          <p:nvPr/>
        </p:nvCxnSpPr>
        <p:spPr>
          <a:xfrm flipV="1">
            <a:off x="9235816" y="3010549"/>
            <a:ext cx="713512" cy="298306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22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BA16-9CED-4D5B-61F4-461F6E46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Results vs Current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BF2FE-6D37-1431-C568-9E704931F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30" y="2291787"/>
            <a:ext cx="5882661" cy="3326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9B941-2AD2-41D1-F0FB-CF92A45F25D6}"/>
              </a:ext>
            </a:extLst>
          </p:cNvPr>
          <p:cNvSpPr txBox="1"/>
          <p:nvPr/>
        </p:nvSpPr>
        <p:spPr>
          <a:xfrm>
            <a:off x="1138159" y="5654193"/>
            <a:ext cx="582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Zou, M. et al.,  J. Phys. Chem. A 2025, 129 (13), 3052−3062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66A6FC-CE58-CD14-B2F2-D530D106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13" y="2351210"/>
            <a:ext cx="5497957" cy="34131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B661B9-1D68-5CF1-BCE1-34F33119E5F3}"/>
              </a:ext>
            </a:extLst>
          </p:cNvPr>
          <p:cNvSpPr txBox="1"/>
          <p:nvPr/>
        </p:nvSpPr>
        <p:spPr>
          <a:xfrm>
            <a:off x="7204108" y="1997076"/>
            <a:ext cx="498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SA(4)-CASSCF(6e,4o)/cc-pVDZ level of theory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54F8F-1163-E7B7-3416-06AC21C19199}"/>
              </a:ext>
            </a:extLst>
          </p:cNvPr>
          <p:cNvSpPr txBox="1"/>
          <p:nvPr/>
        </p:nvSpPr>
        <p:spPr>
          <a:xfrm>
            <a:off x="1326099" y="1946370"/>
            <a:ext cx="6516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SA(4)- CASPT2(6e,4o)/AVTZ level of theory</a:t>
            </a:r>
          </a:p>
        </p:txBody>
      </p:sp>
    </p:spTree>
    <p:extLst>
      <p:ext uri="{BB962C8B-B14F-4D97-AF65-F5344CB8AC3E}">
        <p14:creationId xmlns:p14="http://schemas.microsoft.com/office/powerpoint/2010/main" val="3111021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23"/>
  <p:tag name="OUTPUTTYPE" val="PDF"/>
  <p:tag name="IGUANATEXVERSION" val="160"/>
  <p:tag name="LATEXADDIN" val="\documentclass{article}&#10;\usepackage{amsmath,physics}&#10;\pagestyle{empty}&#10;\begin{document}&#10;&#10;\(|\psi\rangle = \)&#10;&#10;&#10;\end{document}"/>
  <p:tag name="IGUANATEXSIZE" val="24"/>
  <p:tag name="IGUANATEXCURSOR" val="51"/>
  <p:tag name="TRANSPARENCY" val="True"/>
  <p:tag name="LATEXENGINEID" val="1"/>
  <p:tag name="TEMPFOLDER" val="/private/var/folders/k6/gtsdrrq14dg_qjndzlglzjf40000gn/T/com.microsoft.Powerpoint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23"/>
  <p:tag name="OUTPUTTYPE" val="PDF"/>
  <p:tag name="IGUANATEXVERSION" val="160"/>
  <p:tag name="LATEXADDIN" val="\documentclass{article}&#10;\usepackage{amsmath,physics}&#10;\pagestyle{empty}&#10;\begin{document}&#10;&#10;\(|\psi\rangle = \)&#10;&#10;&#10;\end{document}"/>
  <p:tag name="IGUANATEXSIZE" val="24"/>
  <p:tag name="IGUANATEXCURSOR" val="51"/>
  <p:tag name="TRANSPARENCY" val="True"/>
  <p:tag name="LATEXENGINEID" val="1"/>
  <p:tag name="TEMPFOLDER" val="/private/var/folders/k6/gtsdrrq14dg_qjndzlglzjf40000gn/T/com.microsoft.Powerpoint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23"/>
  <p:tag name="OUTPUTTYPE" val="PDF"/>
  <p:tag name="IGUANATEXVERSION" val="160"/>
  <p:tag name="LATEXADDIN" val="\documentclass{article}&#10;\usepackage{amsmath,physics}&#10;\pagestyle{empty}&#10;\begin{document}&#10;&#10;\(|\psi\rangle = \)&#10;&#10;&#10;\end{document}"/>
  <p:tag name="IGUANATEXSIZE" val="24"/>
  <p:tag name="IGUANATEXCURSOR" val="51"/>
  <p:tag name="TRANSPARENCY" val="True"/>
  <p:tag name="LATEXENGINEID" val="1"/>
  <p:tag name="TEMPFOLDER" val="/private/var/folders/k6/gtsdrrq14dg_qjndzlglzjf40000gn/T/com.microsoft.Powerpoint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13367</TotalTime>
  <Words>1024</Words>
  <Application>Microsoft Macintosh PowerPoint</Application>
  <PresentationFormat>Widescreen</PresentationFormat>
  <Paragraphs>123</Paragraphs>
  <Slides>16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Cambria Math</vt:lpstr>
      <vt:lpstr>Garamond</vt:lpstr>
      <vt:lpstr>Verdana</vt:lpstr>
      <vt:lpstr>Office Theme</vt:lpstr>
      <vt:lpstr>Simulation of Solar Photolysis of Organic Hydroperoxides ROOH (tert-butyl hydroperoxide)</vt:lpstr>
      <vt:lpstr>Background and Motivation</vt:lpstr>
      <vt:lpstr>Outline and Research Objective</vt:lpstr>
      <vt:lpstr>Electronic Structure Methods</vt:lpstr>
      <vt:lpstr>Complete Active Space Self Consistent Field (CASSCF) </vt:lpstr>
      <vt:lpstr>Ab Initio Multiple Spawning (AIMS)</vt:lpstr>
      <vt:lpstr>PowerPoint Presentation</vt:lpstr>
      <vt:lpstr>Potential Energy Surface</vt:lpstr>
      <vt:lpstr>Dynamics Set Up and Details</vt:lpstr>
      <vt:lpstr>Time evolution of RO-OH bond distance   </vt:lpstr>
      <vt:lpstr>Dynamics Results</vt:lpstr>
      <vt:lpstr>Interpretation and Results </vt:lpstr>
      <vt:lpstr>Conclusions and Future Work</vt:lpstr>
      <vt:lpstr>Backup Slides</vt:lpstr>
      <vt:lpstr>PowerPoint Presentation</vt:lpstr>
      <vt:lpstr>Literature Results vs Current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Clifford</dc:creator>
  <cp:lastModifiedBy>Helen Clifford</cp:lastModifiedBy>
  <cp:revision>3</cp:revision>
  <dcterms:created xsi:type="dcterms:W3CDTF">2026-07-06T17:55:47Z</dcterms:created>
  <dcterms:modified xsi:type="dcterms:W3CDTF">2026-07-16T00:49:19Z</dcterms:modified>
</cp:coreProperties>
</file>